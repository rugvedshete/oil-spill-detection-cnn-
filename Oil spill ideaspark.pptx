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6"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840">
          <p15:clr>
            <a:srgbClr val="9AA0A6"/>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1171" y="-24"/>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emf"/><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A picture containing logo&#10;&#10;Description automatically generated"/>
          <p:cNvPicPr preferRelativeResize="0"/>
          <p:nvPr/>
        </p:nvPicPr>
        <p:blipFill rotWithShape="1">
          <a:blip r:embed="rId3">
            <a:alphaModFix/>
          </a:blip>
          <a:srcRect/>
          <a:stretch/>
        </p:blipFill>
        <p:spPr>
          <a:xfrm>
            <a:off x="153573" y="81285"/>
            <a:ext cx="2920931" cy="1354217"/>
          </a:xfrm>
          <a:prstGeom prst="rect">
            <a:avLst/>
          </a:prstGeom>
          <a:noFill/>
          <a:ln>
            <a:noFill/>
          </a:ln>
        </p:spPr>
      </p:pic>
      <p:sp>
        <p:nvSpPr>
          <p:cNvPr id="85" name="Google Shape;85;p13"/>
          <p:cNvSpPr txBox="1"/>
          <p:nvPr/>
        </p:nvSpPr>
        <p:spPr>
          <a:xfrm>
            <a:off x="3074503" y="829023"/>
            <a:ext cx="9030900" cy="1315448"/>
          </a:xfrm>
          <a:prstGeom prst="rect">
            <a:avLst/>
          </a:prstGeom>
          <a:solidFill>
            <a:srgbClr val="2F5496"/>
          </a:solidFill>
          <a:ln>
            <a:noFill/>
          </a:ln>
        </p:spPr>
        <p:txBody>
          <a:bodyPr spcFirstLastPara="1" wrap="square" lIns="91425" tIns="45700" rIns="0" bIns="45700" anchor="t" anchorCtr="0">
            <a:spAutoFit/>
          </a:bodyPr>
          <a:lstStyle/>
          <a:p>
            <a:pPr marL="0" marR="0" lvl="0" indent="0" algn="ctr" rtl="0">
              <a:lnSpc>
                <a:spcPct val="100000"/>
              </a:lnSpc>
              <a:spcBef>
                <a:spcPts val="0"/>
              </a:spcBef>
              <a:spcAft>
                <a:spcPts val="0"/>
              </a:spcAft>
              <a:buNone/>
            </a:pPr>
            <a:r>
              <a:rPr lang="en-US" sz="1800" b="0" i="0" u="none" strike="noStrike" cap="none" dirty="0">
                <a:solidFill>
                  <a:schemeClr val="lt1"/>
                </a:solidFill>
                <a:latin typeface="Century"/>
                <a:ea typeface="Century"/>
                <a:cs typeface="Century"/>
                <a:sym typeface="Century"/>
              </a:rPr>
              <a:t>DEPARTMENT OF COMPUTER SCIENCE &amp; ENGINEERING</a:t>
            </a:r>
            <a:endParaRPr sz="1800" b="0" i="0" u="none" strike="noStrike" cap="none" dirty="0">
              <a:solidFill>
                <a:schemeClr val="lt1"/>
              </a:solidFill>
              <a:latin typeface="Century"/>
              <a:ea typeface="Century"/>
              <a:cs typeface="Century"/>
              <a:sym typeface="Century"/>
            </a:endParaRPr>
          </a:p>
          <a:p>
            <a:pPr marL="0" marR="0" lvl="0" indent="0" algn="ctr" rtl="0">
              <a:lnSpc>
                <a:spcPct val="100000"/>
              </a:lnSpc>
              <a:spcBef>
                <a:spcPts val="0"/>
              </a:spcBef>
              <a:spcAft>
                <a:spcPts val="0"/>
              </a:spcAft>
              <a:buClr>
                <a:srgbClr val="000000"/>
              </a:buClr>
              <a:buSzPts val="2800"/>
              <a:buFont typeface="Arial"/>
              <a:buNone/>
            </a:pPr>
            <a:r>
              <a:rPr lang="en-US" sz="2800" i="1" dirty="0">
                <a:solidFill>
                  <a:schemeClr val="lt1"/>
                </a:solidFill>
                <a:latin typeface="Calibri"/>
                <a:ea typeface="Calibri"/>
                <a:cs typeface="Calibri"/>
                <a:sym typeface="Calibri"/>
              </a:rPr>
              <a:t>Oil Spill Detection</a:t>
            </a:r>
            <a:endParaRPr sz="2800" i="1" dirty="0">
              <a:solidFill>
                <a:schemeClr val="lt1"/>
              </a:solidFill>
              <a:latin typeface="Calibri"/>
              <a:ea typeface="Calibri"/>
              <a:cs typeface="Calibri"/>
              <a:sym typeface="Calibri"/>
            </a:endParaRPr>
          </a:p>
          <a:p>
            <a:pPr marL="0" lvl="0" indent="0" algn="ctr" rtl="0">
              <a:lnSpc>
                <a:spcPct val="107916"/>
              </a:lnSpc>
              <a:spcBef>
                <a:spcPts val="0"/>
              </a:spcBef>
              <a:spcAft>
                <a:spcPts val="0"/>
              </a:spcAft>
              <a:buClr>
                <a:schemeClr val="dk1"/>
              </a:buClr>
              <a:buSzPts val="1100"/>
              <a:buFont typeface="Arial"/>
              <a:buNone/>
            </a:pPr>
            <a:r>
              <a:rPr lang="en-US" sz="1300" b="1" dirty="0">
                <a:solidFill>
                  <a:schemeClr val="lt1"/>
                </a:solidFill>
                <a:latin typeface="Calibri"/>
                <a:ea typeface="Calibri"/>
                <a:cs typeface="Calibri"/>
                <a:sym typeface="Calibri"/>
              </a:rPr>
              <a:t>AI/ML-based oil spill detection system</a:t>
            </a:r>
          </a:p>
          <a:p>
            <a:pPr marL="0" lvl="0" indent="0" algn="ctr" rtl="0">
              <a:lnSpc>
                <a:spcPct val="107916"/>
              </a:lnSpc>
              <a:spcBef>
                <a:spcPts val="0"/>
              </a:spcBef>
              <a:spcAft>
                <a:spcPts val="0"/>
              </a:spcAft>
              <a:buClr>
                <a:schemeClr val="dk1"/>
              </a:buClr>
              <a:buSzPts val="1100"/>
              <a:buFont typeface="Arial"/>
              <a:buNone/>
            </a:pPr>
            <a:r>
              <a:rPr lang="en-US" sz="1800" i="1" dirty="0">
                <a:solidFill>
                  <a:schemeClr val="lt1"/>
                </a:solidFill>
                <a:latin typeface="Calibri"/>
                <a:ea typeface="Calibri"/>
                <a:cs typeface="Calibri"/>
                <a:sym typeface="Calibri"/>
              </a:rPr>
              <a:t>Neha </a:t>
            </a:r>
            <a:r>
              <a:rPr lang="en-US" sz="1800" i="1" dirty="0" err="1">
                <a:solidFill>
                  <a:schemeClr val="lt1"/>
                </a:solidFill>
                <a:latin typeface="Calibri"/>
                <a:ea typeface="Calibri"/>
                <a:cs typeface="Calibri"/>
                <a:sym typeface="Calibri"/>
              </a:rPr>
              <a:t>Hambir</a:t>
            </a:r>
            <a:r>
              <a:rPr lang="en-US" sz="1800" i="1" dirty="0">
                <a:solidFill>
                  <a:schemeClr val="lt1"/>
                </a:solidFill>
                <a:latin typeface="Calibri"/>
                <a:ea typeface="Calibri"/>
                <a:cs typeface="Calibri"/>
                <a:sym typeface="Calibri"/>
              </a:rPr>
              <a:t>, Archana Kumar, Vanshaj Saraf,  </a:t>
            </a:r>
            <a:r>
              <a:rPr lang="en-US" sz="1800" i="1" dirty="0" err="1">
                <a:solidFill>
                  <a:schemeClr val="lt1"/>
                </a:solidFill>
                <a:latin typeface="Calibri"/>
                <a:ea typeface="Calibri"/>
                <a:cs typeface="Calibri"/>
                <a:sym typeface="Calibri"/>
              </a:rPr>
              <a:t>Krushnal</a:t>
            </a:r>
            <a:r>
              <a:rPr lang="en-US" sz="1800" i="1" dirty="0">
                <a:solidFill>
                  <a:schemeClr val="lt1"/>
                </a:solidFill>
                <a:latin typeface="Calibri"/>
                <a:ea typeface="Calibri"/>
                <a:cs typeface="Calibri"/>
                <a:sym typeface="Calibri"/>
              </a:rPr>
              <a:t> Patil</a:t>
            </a:r>
            <a:endParaRPr lang="en-US" dirty="0"/>
          </a:p>
        </p:txBody>
      </p:sp>
      <p:sp>
        <p:nvSpPr>
          <p:cNvPr id="86" name="Google Shape;86;p13"/>
          <p:cNvSpPr txBox="1"/>
          <p:nvPr/>
        </p:nvSpPr>
        <p:spPr>
          <a:xfrm>
            <a:off x="153573" y="1435502"/>
            <a:ext cx="2869500" cy="730929"/>
          </a:xfrm>
          <a:prstGeom prst="rect">
            <a:avLst/>
          </a:prstGeom>
          <a:solidFill>
            <a:srgbClr val="FEE59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Faculty Guide: </a:t>
            </a:r>
            <a:endParaRPr dirty="0"/>
          </a:p>
          <a:p>
            <a:pPr marL="0" marR="0" lvl="0" indent="0" algn="l" rtl="0">
              <a:lnSpc>
                <a:spcPct val="150000"/>
              </a:lnSpc>
              <a:spcBef>
                <a:spcPts val="0"/>
              </a:spcBef>
              <a:spcAft>
                <a:spcPts val="0"/>
              </a:spcAft>
              <a:buClr>
                <a:srgbClr val="000000"/>
              </a:buClr>
              <a:buSzPts val="1600"/>
              <a:buFont typeface="Arial"/>
              <a:buNone/>
            </a:pPr>
            <a:r>
              <a:rPr lang="en-IN" sz="1700" b="1" dirty="0"/>
              <a:t>Prof. Nilesh </a:t>
            </a:r>
            <a:r>
              <a:rPr lang="en-IN" sz="1700" b="1" dirty="0" err="1"/>
              <a:t>Kulal</a:t>
            </a:r>
            <a:endParaRPr sz="1700" b="1" dirty="0"/>
          </a:p>
        </p:txBody>
      </p:sp>
      <p:sp>
        <p:nvSpPr>
          <p:cNvPr id="87" name="Google Shape;87;p13"/>
          <p:cNvSpPr txBox="1"/>
          <p:nvPr/>
        </p:nvSpPr>
        <p:spPr>
          <a:xfrm>
            <a:off x="13013334" y="-393524"/>
            <a:ext cx="4927697" cy="6155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alibri"/>
                <a:ea typeface="Calibri"/>
                <a:cs typeface="Calibri"/>
                <a:sym typeface="Calibri"/>
              </a:rPr>
              <a:t>Proposed Architecture/ Diagram:</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8" name="Google Shape;88;p13"/>
          <p:cNvSpPr txBox="1"/>
          <p:nvPr/>
        </p:nvSpPr>
        <p:spPr>
          <a:xfrm>
            <a:off x="3074504" y="170085"/>
            <a:ext cx="7420624" cy="584775"/>
          </a:xfrm>
          <a:prstGeom prst="rect">
            <a:avLst/>
          </a:prstGeom>
          <a:solidFill>
            <a:srgbClr val="B3C6E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0" i="0" u="none" strike="noStrike" cap="none">
                <a:solidFill>
                  <a:srgbClr val="323F4F"/>
                </a:solidFill>
                <a:latin typeface="Century"/>
                <a:ea typeface="Century"/>
                <a:cs typeface="Century"/>
                <a:sym typeface="Century"/>
              </a:rPr>
              <a:t>MIT SCHOOL OF COMPUTING </a:t>
            </a:r>
            <a:endParaRPr sz="3200" b="0" i="0" u="none" strike="noStrike" cap="none">
              <a:solidFill>
                <a:srgbClr val="323F4F"/>
              </a:solidFill>
              <a:latin typeface="Century"/>
              <a:ea typeface="Century"/>
              <a:cs typeface="Century"/>
              <a:sym typeface="Century"/>
            </a:endParaRPr>
          </a:p>
        </p:txBody>
      </p:sp>
      <p:sp>
        <p:nvSpPr>
          <p:cNvPr id="89" name="Google Shape;89;p13"/>
          <p:cNvSpPr txBox="1"/>
          <p:nvPr/>
        </p:nvSpPr>
        <p:spPr>
          <a:xfrm>
            <a:off x="-3345986" y="2629235"/>
            <a:ext cx="28695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 name="Google Shape;90;p13"/>
          <p:cNvSpPr txBox="1"/>
          <p:nvPr/>
        </p:nvSpPr>
        <p:spPr>
          <a:xfrm>
            <a:off x="86598" y="5256741"/>
            <a:ext cx="4582215" cy="171927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500" b="1" i="0" u="none" strike="noStrike" cap="none" dirty="0">
                <a:solidFill>
                  <a:schemeClr val="dk1"/>
                </a:solidFill>
              </a:rPr>
              <a:t>Problem </a:t>
            </a:r>
            <a:r>
              <a:rPr lang="en-US" sz="1500" b="1" dirty="0">
                <a:solidFill>
                  <a:schemeClr val="dk1"/>
                </a:solidFill>
              </a:rPr>
              <a:t>statement</a:t>
            </a:r>
            <a:endParaRPr sz="1500" b="1" dirty="0"/>
          </a:p>
          <a:p>
            <a:pPr marL="0" lvl="0" indent="0" algn="l" rtl="0">
              <a:lnSpc>
                <a:spcPct val="107916"/>
              </a:lnSpc>
              <a:spcBef>
                <a:spcPts val="0"/>
              </a:spcBef>
              <a:spcAft>
                <a:spcPts val="0"/>
              </a:spcAft>
              <a:buClr>
                <a:schemeClr val="dk1"/>
              </a:buClr>
              <a:buSzPts val="1100"/>
              <a:buFont typeface="Arial"/>
              <a:buNone/>
            </a:pPr>
            <a:r>
              <a:rPr lang="en-US" dirty="0">
                <a:solidFill>
                  <a:schemeClr val="dk1"/>
                </a:solidFill>
                <a:latin typeface="Calibri"/>
                <a:ea typeface="Calibri"/>
                <a:cs typeface="Calibri"/>
                <a:sym typeface="Calibri"/>
              </a:rPr>
              <a:t>Oil spills pose a severe threat to marine ecosystems, requiring rapid detection for effective mitigation. This project aims to develop an AI/ML-based system for oil spill detection using satellite imagery. By leveraging image processing and deep learning techniques, the model will identify oil spills, differentiate them from water.</a:t>
            </a:r>
            <a:endParaRPr sz="1300" b="1" dirty="0">
              <a:solidFill>
                <a:schemeClr val="dk1"/>
              </a:solidFill>
              <a:latin typeface="Calibri"/>
              <a:ea typeface="Calibri"/>
              <a:cs typeface="Calibri"/>
              <a:sym typeface="Calibri"/>
            </a:endParaRPr>
          </a:p>
        </p:txBody>
      </p:sp>
      <p:sp>
        <p:nvSpPr>
          <p:cNvPr id="91" name="Google Shape;91;p13"/>
          <p:cNvSpPr txBox="1"/>
          <p:nvPr/>
        </p:nvSpPr>
        <p:spPr>
          <a:xfrm>
            <a:off x="4668813" y="5256742"/>
            <a:ext cx="4006108" cy="163117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1" i="0" u="none" strike="noStrike" cap="none" dirty="0">
                <a:solidFill>
                  <a:schemeClr val="dk1"/>
                </a:solidFill>
              </a:rPr>
              <a:t>Proposed Solution</a:t>
            </a:r>
            <a:endParaRPr sz="1600" b="1" i="0" u="none" strike="noStrike" cap="none" dirty="0">
              <a:solidFill>
                <a:schemeClr val="dk1"/>
              </a:solidFill>
            </a:endParaRPr>
          </a:p>
          <a:p>
            <a:pPr marL="0" marR="0" lvl="0" indent="0" algn="just" rtl="0">
              <a:lnSpc>
                <a:spcPct val="100000"/>
              </a:lnSpc>
              <a:spcBef>
                <a:spcPts val="0"/>
              </a:spcBef>
              <a:spcAft>
                <a:spcPts val="0"/>
              </a:spcAft>
              <a:buNone/>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rPr>
              <a:t>The proposed solution utilizes AI/ML-based image processing techniques to detect oil spills from satellite imagery with high accuracy. By leveraging deep learning models such as CNNs, the system will differentiate oil spills from water, ensuring precise identification. </a:t>
            </a:r>
            <a:endParaRPr lang="en-US"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92" name="Google Shape;92;p13"/>
          <p:cNvSpPr txBox="1"/>
          <p:nvPr/>
        </p:nvSpPr>
        <p:spPr>
          <a:xfrm>
            <a:off x="8674921" y="5256741"/>
            <a:ext cx="3430482" cy="1523454"/>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1" i="0" u="none" strike="noStrike" cap="none" dirty="0">
                <a:solidFill>
                  <a:schemeClr val="dk1"/>
                </a:solidFill>
              </a:rPr>
              <a:t>Scope and Feasibility</a:t>
            </a:r>
            <a:endParaRPr sz="1600" b="1" dirty="0"/>
          </a:p>
          <a:p>
            <a:pPr marL="0" marR="0" lvl="0" indent="0" algn="just" rtl="0">
              <a:lnSpc>
                <a:spcPct val="100000"/>
              </a:lnSpc>
              <a:spcBef>
                <a:spcPts val="0"/>
              </a:spcBef>
              <a:spcAft>
                <a:spcPts val="0"/>
              </a:spcAft>
              <a:buNone/>
            </a:pPr>
            <a:r>
              <a:rPr lang="en-US" sz="1100" dirty="0">
                <a:solidFill>
                  <a:schemeClr val="dk1"/>
                </a:solidFill>
              </a:rPr>
              <a:t>This project utilizes satellite imagery and AI/ML models for real-time oil spill detection. It ensures accurate classification using deep learning technique like CNN. Feasibility is high due to accessible datasets, cloud computing, and automation, making it scalable for environmental monitoring and emergency response applications.</a:t>
            </a:r>
            <a:endParaRPr sz="1100" b="0" i="0" u="none" strike="noStrike" cap="none" dirty="0">
              <a:solidFill>
                <a:schemeClr val="dk1"/>
              </a:solidFill>
              <a:latin typeface="Arial"/>
              <a:ea typeface="Arial"/>
              <a:cs typeface="Arial"/>
              <a:sym typeface="Arial"/>
            </a:endParaRPr>
          </a:p>
        </p:txBody>
      </p:sp>
      <p:sp>
        <p:nvSpPr>
          <p:cNvPr id="93" name="Google Shape;93;p13"/>
          <p:cNvSpPr txBox="1"/>
          <p:nvPr/>
        </p:nvSpPr>
        <p:spPr>
          <a:xfrm>
            <a:off x="10565338" y="180102"/>
            <a:ext cx="1556400" cy="585000"/>
          </a:xfrm>
          <a:prstGeom prst="rect">
            <a:avLst/>
          </a:prstGeom>
          <a:solidFill>
            <a:srgbClr val="FEE59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Class : TY AIA 3</a:t>
            </a:r>
            <a:endParaRPr dirty="0"/>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Group Id: </a:t>
            </a:r>
            <a:r>
              <a:rPr lang="en-US" sz="1600" b="1" dirty="0">
                <a:solidFill>
                  <a:schemeClr val="dk1"/>
                </a:solidFill>
                <a:latin typeface="Calibri"/>
                <a:ea typeface="Calibri"/>
                <a:cs typeface="Calibri"/>
                <a:sym typeface="Calibri"/>
              </a:rPr>
              <a:t>18</a:t>
            </a:r>
            <a:endParaRPr dirty="0"/>
          </a:p>
        </p:txBody>
      </p:sp>
      <p:pic>
        <p:nvPicPr>
          <p:cNvPr id="3" name="Picture 2">
            <a:extLst>
              <a:ext uri="{FF2B5EF4-FFF2-40B4-BE49-F238E27FC236}">
                <a16:creationId xmlns:a16="http://schemas.microsoft.com/office/drawing/2014/main" id="{D0420864-0012-FB95-2A0A-9B6D241FC6A1}"/>
              </a:ext>
            </a:extLst>
          </p:cNvPr>
          <p:cNvPicPr>
            <a:picLocks noChangeAspect="1"/>
          </p:cNvPicPr>
          <p:nvPr/>
        </p:nvPicPr>
        <p:blipFill>
          <a:blip r:embed="rId4"/>
          <a:stretch>
            <a:fillRect/>
          </a:stretch>
        </p:blipFill>
        <p:spPr>
          <a:xfrm>
            <a:off x="153574" y="2165215"/>
            <a:ext cx="4424864" cy="2995658"/>
          </a:xfrm>
          <a:prstGeom prst="rect">
            <a:avLst/>
          </a:prstGeom>
        </p:spPr>
      </p:pic>
      <p:pic>
        <p:nvPicPr>
          <p:cNvPr id="7" name="Picture 6">
            <a:extLst>
              <a:ext uri="{FF2B5EF4-FFF2-40B4-BE49-F238E27FC236}">
                <a16:creationId xmlns:a16="http://schemas.microsoft.com/office/drawing/2014/main" id="{EE81C37D-00F9-8A62-BEC9-492602B8961E}"/>
              </a:ext>
            </a:extLst>
          </p:cNvPr>
          <p:cNvPicPr>
            <a:picLocks noChangeAspect="1"/>
          </p:cNvPicPr>
          <p:nvPr/>
        </p:nvPicPr>
        <p:blipFill>
          <a:blip r:embed="rId5"/>
          <a:stretch>
            <a:fillRect/>
          </a:stretch>
        </p:blipFill>
        <p:spPr>
          <a:xfrm>
            <a:off x="4720242" y="2165215"/>
            <a:ext cx="3864305" cy="3240798"/>
          </a:xfrm>
          <a:prstGeom prst="rect">
            <a:avLst/>
          </a:prstGeom>
        </p:spPr>
      </p:pic>
      <p:pic>
        <p:nvPicPr>
          <p:cNvPr id="9" name="Picture 8">
            <a:extLst>
              <a:ext uri="{FF2B5EF4-FFF2-40B4-BE49-F238E27FC236}">
                <a16:creationId xmlns:a16="http://schemas.microsoft.com/office/drawing/2014/main" id="{FFF89412-7D36-6767-BC49-AAF0CC29A03B}"/>
              </a:ext>
            </a:extLst>
          </p:cNvPr>
          <p:cNvPicPr>
            <a:picLocks noChangeAspect="1"/>
          </p:cNvPicPr>
          <p:nvPr/>
        </p:nvPicPr>
        <p:blipFill>
          <a:blip r:embed="rId6"/>
          <a:stretch>
            <a:fillRect/>
          </a:stretch>
        </p:blipFill>
        <p:spPr>
          <a:xfrm>
            <a:off x="8726351" y="2135985"/>
            <a:ext cx="3205070" cy="297791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210</Words>
  <Application>Microsoft Office PowerPoint</Application>
  <PresentationFormat>Widescreen</PresentationFormat>
  <Paragraphs>16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Century</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Vanshaj Saraf</dc:creator>
  <cp:lastModifiedBy>Vanshaj Saraf</cp:lastModifiedBy>
  <cp:revision>2</cp:revision>
  <dcterms:modified xsi:type="dcterms:W3CDTF">2025-02-27T18:52:20Z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5487c9-99ed-4cbc-93a8-0e9b1796bde5_Enabled">
    <vt:lpwstr>true</vt:lpwstr>
  </property>
  <property fmtid="{D5CDD505-2E9C-101B-9397-08002B2CF9AE}" pid="3" name="MSIP_Label_e65487c9-99ed-4cbc-93a8-0e9b1796bde5_SetDate">
    <vt:lpwstr>2023-08-22T15:55:58Z</vt:lpwstr>
  </property>
  <property fmtid="{D5CDD505-2E9C-101B-9397-08002B2CF9AE}" pid="4" name="MSIP_Label_e65487c9-99ed-4cbc-93a8-0e9b1796bde5_Method">
    <vt:lpwstr>Standard</vt:lpwstr>
  </property>
  <property fmtid="{D5CDD505-2E9C-101B-9397-08002B2CF9AE}" pid="5" name="MSIP_Label_e65487c9-99ed-4cbc-93a8-0e9b1796bde5_Name">
    <vt:lpwstr>defa4170-0d19-0005-0004-bc88714345d2</vt:lpwstr>
  </property>
  <property fmtid="{D5CDD505-2E9C-101B-9397-08002B2CF9AE}" pid="6" name="MSIP_Label_e65487c9-99ed-4cbc-93a8-0e9b1796bde5_SiteId">
    <vt:lpwstr>03cb5f0c-1f82-4993-9621-36330f6309ec</vt:lpwstr>
  </property>
  <property fmtid="{D5CDD505-2E9C-101B-9397-08002B2CF9AE}" pid="7" name="MSIP_Label_e65487c9-99ed-4cbc-93a8-0e9b1796bde5_ActionId">
    <vt:lpwstr>a9f9e4d2-07a5-4c01-b96a-2377cca3dabb</vt:lpwstr>
  </property>
  <property fmtid="{D5CDD505-2E9C-101B-9397-08002B2CF9AE}" pid="8" name="MSIP_Label_e65487c9-99ed-4cbc-93a8-0e9b1796bde5_ContentBits">
    <vt:lpwstr>0</vt:lpwstr>
  </property>
</Properties>
</file>
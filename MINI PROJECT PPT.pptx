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9144000" cy="6858000"/>
  <p:embeddedFontLst>
    <p:embeddedFont>
      <p:font typeface="Century Schoolbook" panose="02040604050505020304" pitchFamily="18"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uATwLBPAuOsgfyrv/xwC2db7U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B3F4C0-F2E8-4320-A34B-0B094AA10944}">
  <a:tblStyle styleId="{6CB3F4C0-F2E8-4320-A34B-0B094AA109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68"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9" Type="http://schemas.microsoft.com/office/2016/11/relationships/changesInfo" Target="changesInfos/changesInfo1.xml"/><Relationship Id="rId3" Type="http://schemas.openxmlformats.org/officeDocument/2006/relationships/slide" Target="slides/slide2.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eeraj nair" userId="1664cdc85e2616c8" providerId="LiveId" clId="{56F8AEC9-1236-4C77-B3EA-3325CCE5210F}"/>
    <pc:docChg chg="undo custSel modSld">
      <pc:chgData name="dheeraj nair" userId="1664cdc85e2616c8" providerId="LiveId" clId="{56F8AEC9-1236-4C77-B3EA-3325CCE5210F}" dt="2025-10-10T07:56:01.985" v="7" actId="20577"/>
      <pc:docMkLst>
        <pc:docMk/>
      </pc:docMkLst>
      <pc:sldChg chg="modSp mod">
        <pc:chgData name="dheeraj nair" userId="1664cdc85e2616c8" providerId="LiveId" clId="{56F8AEC9-1236-4C77-B3EA-3325CCE5210F}" dt="2025-10-10T07:56:01.985" v="7" actId="20577"/>
        <pc:sldMkLst>
          <pc:docMk/>
          <pc:sldMk cId="0" sldId="256"/>
        </pc:sldMkLst>
        <pc:spChg chg="mod">
          <ac:chgData name="dheeraj nair" userId="1664cdc85e2616c8" providerId="LiveId" clId="{56F8AEC9-1236-4C77-B3EA-3325CCE5210F}" dt="2025-10-10T07:56:01.985" v="7" actId="20577"/>
          <ac:spMkLst>
            <pc:docMk/>
            <pc:sldMk cId="0" sldId="256"/>
            <ac:spMk id="4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cc8714c89_0_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 name="Google Shape;54;g5cc8714c89_0_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5cc8714c89_2_3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5cc8714c89_2_35: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8"/>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8"/>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400" b="0" i="0">
                <a:solidFill>
                  <a:schemeClr val="dk1"/>
                </a:solidFill>
                <a:latin typeface="Century Schoolbook"/>
                <a:ea typeface="Century Schoolbook"/>
                <a:cs typeface="Century Schoolbook"/>
                <a:sym typeface="Century Schoolbook"/>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29"/>
          <p:cNvSpPr txBox="1">
            <a:spLocks noGrp="1"/>
          </p:cNvSpPr>
          <p:nvPr>
            <p:ph type="ctrTitle"/>
          </p:nvPr>
        </p:nvSpPr>
        <p:spPr>
          <a:xfrm>
            <a:off x="803554" y="214706"/>
            <a:ext cx="7536891" cy="1244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9"/>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
        <p:cNvGrpSpPr/>
        <p:nvPr/>
      </p:nvGrpSpPr>
      <p:grpSpPr>
        <a:xfrm>
          <a:off x="0" y="0"/>
          <a:ext cx="0" cy="0"/>
          <a:chOff x="0" y="0"/>
          <a:chExt cx="0" cy="0"/>
        </a:xfrm>
      </p:grpSpPr>
      <p:sp>
        <p:nvSpPr>
          <p:cNvPr id="27" name="Google Shape;27;p30"/>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0"/>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1"/>
        <p:cNvGrpSpPr/>
        <p:nvPr/>
      </p:nvGrpSpPr>
      <p:grpSpPr>
        <a:xfrm>
          <a:off x="0" y="0"/>
          <a:ext cx="0" cy="0"/>
          <a:chOff x="0" y="0"/>
          <a:chExt cx="0" cy="0"/>
        </a:xfrm>
      </p:grpSpPr>
      <p:sp>
        <p:nvSpPr>
          <p:cNvPr id="32" name="Google Shape;32;p31"/>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32"/>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2"/>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9" name="Google Shape;39;p32"/>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2"/>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7"/>
          <p:cNvSpPr/>
          <p:nvPr/>
        </p:nvSpPr>
        <p:spPr>
          <a:xfrm>
            <a:off x="0" y="5816578"/>
            <a:ext cx="1062142" cy="1041418"/>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solidFill>
            <a:srgbClr val="00006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7"/>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400" b="1" i="0" u="none" strike="noStrike" cap="none">
                <a:solidFill>
                  <a:schemeClr val="hlink"/>
                </a:solidFill>
                <a:latin typeface="Century Schoolbook"/>
                <a:ea typeface="Century Schoolbook"/>
                <a:cs typeface="Century Schoolbook"/>
                <a:sym typeface="Century Schoolboo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7"/>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entury Schoolbook"/>
                <a:ea typeface="Century Schoolbook"/>
                <a:cs typeface="Century Schoolbook"/>
                <a:sym typeface="Century Schoolbook"/>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7"/>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1" i="0" u="none" strike="noStrike" cap="none">
                <a:solidFill>
                  <a:srgbClr val="00006C"/>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ataspace.copernicus.eu/"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2"/>
          <p:cNvSpPr txBox="1"/>
          <p:nvPr/>
        </p:nvSpPr>
        <p:spPr>
          <a:xfrm>
            <a:off x="1280160" y="594305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MITSoC, Loni Kalbhor</a:t>
            </a:r>
            <a:endParaRPr sz="1800" b="1" i="1" u="none" strike="noStrike" cap="none">
              <a:solidFill>
                <a:srgbClr val="C00000"/>
              </a:solidFill>
              <a:latin typeface="Times New Roman"/>
              <a:ea typeface="Times New Roman"/>
              <a:cs typeface="Times New Roman"/>
              <a:sym typeface="Times New Roman"/>
            </a:endParaRPr>
          </a:p>
        </p:txBody>
      </p:sp>
      <p:sp>
        <p:nvSpPr>
          <p:cNvPr id="47" name="Google Shape;47;p2"/>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8" name="Google Shape;48;p2"/>
          <p:cNvSpPr txBox="1">
            <a:spLocks noGrp="1"/>
          </p:cNvSpPr>
          <p:nvPr>
            <p:ph type="title"/>
          </p:nvPr>
        </p:nvSpPr>
        <p:spPr>
          <a:xfrm>
            <a:off x="267300" y="1951900"/>
            <a:ext cx="8609400" cy="55399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1400"/>
              <a:buNone/>
            </a:pPr>
            <a:r>
              <a:rPr lang="en-US" sz="3600" dirty="0">
                <a:solidFill>
                  <a:srgbClr val="073763"/>
                </a:solidFill>
                <a:latin typeface="Times New Roman"/>
                <a:ea typeface="Times New Roman"/>
                <a:cs typeface="Times New Roman"/>
                <a:sym typeface="Times New Roman"/>
              </a:rPr>
              <a:t>“OIL SPILL DETECTION”</a:t>
            </a:r>
            <a:endParaRPr dirty="0">
              <a:solidFill>
                <a:srgbClr val="073763"/>
              </a:solidFill>
              <a:latin typeface="Times New Roman"/>
              <a:ea typeface="Times New Roman"/>
              <a:cs typeface="Times New Roman"/>
              <a:sym typeface="Times New Roman"/>
            </a:endParaRPr>
          </a:p>
        </p:txBody>
      </p:sp>
      <p:sp>
        <p:nvSpPr>
          <p:cNvPr id="49" name="Google Shape;49;p2"/>
          <p:cNvSpPr txBox="1"/>
          <p:nvPr/>
        </p:nvSpPr>
        <p:spPr>
          <a:xfrm>
            <a:off x="633150" y="3245275"/>
            <a:ext cx="7496700"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dirty="0">
                <a:latin typeface="Times New Roman"/>
                <a:ea typeface="Times New Roman"/>
                <a:cs typeface="Times New Roman"/>
                <a:sym typeface="Times New Roman"/>
              </a:rPr>
              <a:t>MITU22BTCS0228:- </a:t>
            </a:r>
            <a:r>
              <a:rPr lang="en-IN" sz="1600" b="1" dirty="0">
                <a:latin typeface="Times New Roman"/>
                <a:ea typeface="Times New Roman"/>
                <a:cs typeface="Times New Roman"/>
                <a:sym typeface="Times New Roman"/>
              </a:rPr>
              <a:t>Kunal Borse</a:t>
            </a:r>
          </a:p>
          <a:p>
            <a:pPr algn="ctr"/>
            <a:r>
              <a:rPr lang="en-US" sz="1600" b="1" dirty="0">
                <a:latin typeface="Times New Roman"/>
                <a:ea typeface="Times New Roman"/>
                <a:cs typeface="Times New Roman"/>
                <a:sym typeface="Times New Roman"/>
              </a:rPr>
              <a:t>   MITU22BTCS0:- Rugved Shete</a:t>
            </a:r>
          </a:p>
          <a:p>
            <a:pPr algn="ctr"/>
            <a:r>
              <a:rPr lang="en-US" sz="1600" b="1" dirty="0">
                <a:latin typeface="Times New Roman"/>
                <a:ea typeface="Times New Roman"/>
                <a:cs typeface="Times New Roman"/>
                <a:sym typeface="Times New Roman"/>
              </a:rPr>
              <a:t>MITU22BTCS0260:-  Dheeraj Nair</a:t>
            </a:r>
          </a:p>
          <a:p>
            <a:pPr algn="ctr"/>
            <a:endParaRPr sz="16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1600" b="1" dirty="0">
                <a:latin typeface="Times New Roman"/>
                <a:ea typeface="Times New Roman"/>
                <a:cs typeface="Times New Roman"/>
                <a:sym typeface="Times New Roman"/>
              </a:rPr>
              <a:t>Guided by:- Prof. </a:t>
            </a:r>
            <a:r>
              <a:rPr lang="en-IN" sz="1600" b="1" dirty="0">
                <a:latin typeface="Times New Roman"/>
                <a:ea typeface="Times New Roman"/>
                <a:cs typeface="Times New Roman"/>
                <a:sym typeface="Times New Roman"/>
              </a:rPr>
              <a:t>Vilas Khedekar</a:t>
            </a:r>
            <a:endParaRPr sz="16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1600" b="1" dirty="0">
              <a:latin typeface="Times New Roman"/>
              <a:ea typeface="Times New Roman"/>
              <a:cs typeface="Times New Roman"/>
              <a:sym typeface="Times New Roman"/>
            </a:endParaRPr>
          </a:p>
        </p:txBody>
      </p:sp>
      <p:sp>
        <p:nvSpPr>
          <p:cNvPr id="50" name="Google Shape;50;p2"/>
          <p:cNvSpPr txBox="1"/>
          <p:nvPr/>
        </p:nvSpPr>
        <p:spPr>
          <a:xfrm>
            <a:off x="2878691" y="555528"/>
            <a:ext cx="3384884"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New Roman"/>
                <a:ea typeface="Times New Roman"/>
                <a:cs typeface="Times New Roman"/>
                <a:sym typeface="Times New Roman"/>
              </a:rPr>
              <a:t>Project Presentation</a:t>
            </a:r>
            <a:endParaRPr/>
          </a:p>
        </p:txBody>
      </p:sp>
      <p:pic>
        <p:nvPicPr>
          <p:cNvPr id="51" name="Google Shape;51;p2"/>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g5cc8714c89_0_4"/>
          <p:cNvSpPr txBox="1">
            <a:spLocks noGrp="1"/>
          </p:cNvSpPr>
          <p:nvPr>
            <p:ph type="title"/>
          </p:nvPr>
        </p:nvSpPr>
        <p:spPr>
          <a:xfrm>
            <a:off x="830592" y="408046"/>
            <a:ext cx="6932100" cy="554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2800">
                <a:solidFill>
                  <a:srgbClr val="073763"/>
                </a:solidFill>
                <a:latin typeface="Times New Roman"/>
                <a:ea typeface="Times New Roman"/>
                <a:cs typeface="Times New Roman"/>
                <a:sym typeface="Times New Roman"/>
              </a:rPr>
              <a:t>Outline</a:t>
            </a:r>
            <a:endParaRPr>
              <a:solidFill>
                <a:srgbClr val="073763"/>
              </a:solidFill>
            </a:endParaRPr>
          </a:p>
        </p:txBody>
      </p:sp>
      <p:sp>
        <p:nvSpPr>
          <p:cNvPr id="57" name="Google Shape;57;g5cc8714c89_0_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2</a:t>
            </a:fld>
            <a:endParaRPr/>
          </a:p>
        </p:txBody>
      </p:sp>
      <p:sp>
        <p:nvSpPr>
          <p:cNvPr id="58" name="Google Shape;58;g5cc8714c89_0_4"/>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59" name="Google Shape;59;g5cc8714c89_0_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0" name="Google Shape;60;g5cc8714c89_0_4"/>
          <p:cNvSpPr txBox="1"/>
          <p:nvPr/>
        </p:nvSpPr>
        <p:spPr>
          <a:xfrm>
            <a:off x="830590" y="1284140"/>
            <a:ext cx="7848600" cy="4771800"/>
          </a:xfrm>
          <a:prstGeom prst="rect">
            <a:avLst/>
          </a:prstGeom>
          <a:noFill/>
          <a:ln>
            <a:noFill/>
          </a:ln>
        </p:spPr>
        <p:txBody>
          <a:bodyPr spcFirstLastPara="1" wrap="square" lIns="91425" tIns="91425" rIns="91425" bIns="91425" anchor="t" anchorCtr="0">
            <a:noAutofit/>
          </a:bodyPr>
          <a:lstStyle/>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Introduction</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Problem Statement</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Objectives</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Concepts &amp; Methods</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Literature Review </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Identification of gaps &amp; scope of work </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Implementation </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Reference</a:t>
            </a:r>
            <a:endParaRPr sz="220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Q&amp;A</a:t>
            </a:r>
            <a:endParaRPr sz="22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66" name="Google Shape;66;p4"/>
          <p:cNvSpPr txBox="1"/>
          <p:nvPr/>
        </p:nvSpPr>
        <p:spPr>
          <a:xfrm>
            <a:off x="417107" y="224589"/>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073763"/>
                </a:solidFill>
                <a:latin typeface="Times New Roman"/>
                <a:ea typeface="Times New Roman"/>
                <a:cs typeface="Times New Roman"/>
                <a:sym typeface="Times New Roman"/>
              </a:rPr>
              <a:t>Introduction</a:t>
            </a:r>
            <a:r>
              <a:rPr lang="en-US" sz="2200" b="0" i="0" u="none" strike="noStrike" cap="none" dirty="0">
                <a:solidFill>
                  <a:srgbClr val="073763"/>
                </a:solidFill>
                <a:latin typeface="Times New Roman"/>
                <a:ea typeface="Times New Roman"/>
                <a:cs typeface="Times New Roman"/>
                <a:sym typeface="Times New Roman"/>
              </a:rPr>
              <a:t> </a:t>
            </a:r>
            <a:endParaRPr dirty="0">
              <a:solidFill>
                <a:srgbClr val="073763"/>
              </a:solidFill>
            </a:endParaRPr>
          </a:p>
        </p:txBody>
      </p:sp>
      <p:sp>
        <p:nvSpPr>
          <p:cNvPr id="67" name="Google Shape;67;p4"/>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68" name="Google Shape;68;p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9" name="Google Shape;69;p4"/>
          <p:cNvSpPr txBox="1"/>
          <p:nvPr/>
        </p:nvSpPr>
        <p:spPr>
          <a:xfrm>
            <a:off x="489450" y="903763"/>
            <a:ext cx="8088900" cy="1692741"/>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dirty="0">
                <a:latin typeface="Times New Roman" panose="02020603050405020304" pitchFamily="18" charset="0"/>
                <a:cs typeface="Times New Roman" panose="02020603050405020304" pitchFamily="18" charset="0"/>
              </a:rPr>
              <a:t>This project focuses on creating a system that uses satellite images and machine learning to detect oil spills in the ocean. Oil spills can have serious negative effects on marine life and coastal communities, and traditional methods of spotting them are often slow and require a lot of manual effort. Our approach aims to streamline the process by automating detection, which could help environmental agencies respond more quickly and effectively to these accidents. In this project, we explain how we harness remote sensing data, develop and train our machine learning model, and test the system’s accuracy in distinguishing oil spills from other similar features on the water.</a:t>
            </a:r>
            <a:endParaRPr dirty="0">
              <a:latin typeface="Times New Roman" panose="02020603050405020304" pitchFamily="18" charset="0"/>
              <a:cs typeface="Times New Roman" panose="02020603050405020304" pitchFamily="18" charset="0"/>
            </a:endParaRPr>
          </a:p>
        </p:txBody>
      </p:sp>
      <p:pic>
        <p:nvPicPr>
          <p:cNvPr id="2052" name="Picture 4" descr="The Deepwater Horizon Disaster | The New Yorker">
            <a:extLst>
              <a:ext uri="{FF2B5EF4-FFF2-40B4-BE49-F238E27FC236}">
                <a16:creationId xmlns:a16="http://schemas.microsoft.com/office/drawing/2014/main" id="{0EC39106-E7DC-FD60-A261-1BE3DCFF44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310" y="2618369"/>
            <a:ext cx="3639097" cy="27536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6"/>
          <p:cNvSpPr txBox="1">
            <a:spLocks noGrp="1"/>
          </p:cNvSpPr>
          <p:nvPr>
            <p:ph type="sldNum" idx="12"/>
          </p:nvPr>
        </p:nvSpPr>
        <p:spPr>
          <a:xfrm>
            <a:off x="6583680" y="6377940"/>
            <a:ext cx="210300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76" name="Google Shape;76;p6"/>
          <p:cNvSpPr txBox="1"/>
          <p:nvPr/>
        </p:nvSpPr>
        <p:spPr>
          <a:xfrm>
            <a:off x="528744" y="325664"/>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073763"/>
                </a:solidFill>
                <a:latin typeface="Times New Roman"/>
                <a:ea typeface="Times New Roman"/>
                <a:cs typeface="Times New Roman"/>
                <a:sym typeface="Times New Roman"/>
              </a:rPr>
              <a:t>Problem Statement</a:t>
            </a:r>
            <a:r>
              <a:rPr lang="en-US" sz="2200" b="0" i="0" u="none" strike="noStrike" cap="none" dirty="0">
                <a:solidFill>
                  <a:srgbClr val="073763"/>
                </a:solidFill>
                <a:latin typeface="Times New Roman"/>
                <a:ea typeface="Times New Roman"/>
                <a:cs typeface="Times New Roman"/>
                <a:sym typeface="Times New Roman"/>
              </a:rPr>
              <a:t> </a:t>
            </a:r>
            <a:endParaRPr dirty="0">
              <a:solidFill>
                <a:srgbClr val="073763"/>
              </a:solidFill>
            </a:endParaRPr>
          </a:p>
        </p:txBody>
      </p:sp>
      <p:sp>
        <p:nvSpPr>
          <p:cNvPr id="77" name="Google Shape;77;p6"/>
          <p:cNvSpPr txBox="1"/>
          <p:nvPr/>
        </p:nvSpPr>
        <p:spPr>
          <a:xfrm>
            <a:off x="1379346" y="6104088"/>
            <a:ext cx="7378800" cy="6729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78" name="Google Shape;78;p6"/>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79" name="Google Shape;79;p6"/>
          <p:cNvSpPr txBox="1"/>
          <p:nvPr/>
        </p:nvSpPr>
        <p:spPr>
          <a:xfrm>
            <a:off x="76496" y="922625"/>
            <a:ext cx="8610184" cy="2769959"/>
          </a:xfrm>
          <a:prstGeom prst="rect">
            <a:avLst/>
          </a:prstGeom>
          <a:noFill/>
          <a:ln>
            <a:noFill/>
          </a:ln>
        </p:spPr>
        <p:txBody>
          <a:bodyPr spcFirstLastPara="1" wrap="square" lIns="91425" tIns="91425" rIns="91425" bIns="91425" anchor="t" anchorCtr="0">
            <a:spAutoFit/>
          </a:bodyPr>
          <a:lstStyle/>
          <a:p>
            <a:pPr marL="457200" lvl="0" indent="0" algn="just" rtl="0">
              <a:spcBef>
                <a:spcPts val="0"/>
              </a:spcBef>
              <a:spcAft>
                <a:spcPts val="0"/>
              </a:spcAft>
              <a:buNone/>
            </a:pPr>
            <a:r>
              <a:rPr lang="en-US" dirty="0">
                <a:latin typeface="New times roman"/>
              </a:rPr>
              <a:t>Oil spills pose a significant environmental threat to marine ecosystems, affecting aquatic life and coastal economies. Early detection and timely response are crucial to mitigating their impact. This project aims to develop a machine learning model that classifies satellite images of water bodies as an oil spill or no spill.</a:t>
            </a:r>
          </a:p>
          <a:p>
            <a:pPr marL="457200" lvl="0" indent="0" algn="just" rtl="0">
              <a:spcBef>
                <a:spcPts val="0"/>
              </a:spcBef>
              <a:spcAft>
                <a:spcPts val="0"/>
              </a:spcAft>
              <a:buNone/>
            </a:pPr>
            <a:endParaRPr lang="en-US" dirty="0">
              <a:latin typeface="New times roman"/>
            </a:endParaRPr>
          </a:p>
          <a:p>
            <a:pPr marL="457200" lvl="0" indent="0" algn="just" rtl="0">
              <a:spcBef>
                <a:spcPts val="0"/>
              </a:spcBef>
              <a:spcAft>
                <a:spcPts val="0"/>
              </a:spcAft>
              <a:buNone/>
            </a:pPr>
            <a:r>
              <a:rPr lang="en-US" b="1" dirty="0">
                <a:latin typeface="New times roman"/>
              </a:rPr>
              <a:t>Environmental Threat: </a:t>
            </a:r>
            <a:r>
              <a:rPr lang="en-US" dirty="0">
                <a:latin typeface="New times roman"/>
              </a:rPr>
              <a:t>Oil spills pose a serious threat to marine ecosystems, affecting wildlife, water quality, and coastal communities, necessitating timely detection and mitigation.</a:t>
            </a:r>
          </a:p>
          <a:p>
            <a:pPr marL="457200" lvl="0" indent="0" algn="just" rtl="0">
              <a:spcBef>
                <a:spcPts val="0"/>
              </a:spcBef>
              <a:spcAft>
                <a:spcPts val="0"/>
              </a:spcAft>
              <a:buNone/>
            </a:pPr>
            <a:r>
              <a:rPr lang="en-US" b="1" dirty="0">
                <a:latin typeface="New times roman"/>
              </a:rPr>
              <a:t>Delayed Detection: </a:t>
            </a:r>
            <a:r>
              <a:rPr lang="en-US" dirty="0">
                <a:latin typeface="New times roman"/>
              </a:rPr>
              <a:t>Traditional oil spill detection methods are often slow, labor-intensive, and dependent on manual observation or limited satellite passes, leading to delayed response times.</a:t>
            </a:r>
          </a:p>
          <a:p>
            <a:pPr marL="457200" lvl="0" indent="0" algn="just" rtl="0">
              <a:spcBef>
                <a:spcPts val="0"/>
              </a:spcBef>
              <a:spcAft>
                <a:spcPts val="0"/>
              </a:spcAft>
              <a:buNone/>
            </a:pPr>
            <a:r>
              <a:rPr lang="en-US" b="1" dirty="0">
                <a:latin typeface="New times roman"/>
              </a:rPr>
              <a:t>Limited Coverage: </a:t>
            </a:r>
            <a:r>
              <a:rPr lang="en-US" dirty="0">
                <a:latin typeface="New times roman"/>
              </a:rPr>
              <a:t>Current monitoring systems may lack real-time capability or have limited spatial coverage, making it difficult to detect smaller or remote spills effectively.</a:t>
            </a:r>
          </a:p>
          <a:p>
            <a:pPr marL="457200" lvl="0" indent="0" algn="just" rtl="0">
              <a:spcBef>
                <a:spcPts val="0"/>
              </a:spcBef>
              <a:spcAft>
                <a:spcPts val="0"/>
              </a:spcAft>
              <a:buNone/>
            </a:pPr>
            <a:r>
              <a:rPr lang="en-US" b="1" dirty="0">
                <a:latin typeface="New times roman"/>
              </a:rPr>
              <a:t>Integration with Response Systems: </a:t>
            </a:r>
            <a:r>
              <a:rPr lang="en-US" dirty="0">
                <a:latin typeface="New times roman"/>
              </a:rPr>
              <a:t>There is a lack of integration between detection systems and emergency response frameworks, delaying containment and cleanup operations once a spill is identified.</a:t>
            </a:r>
            <a:endParaRPr dirty="0">
              <a:latin typeface="New times roman"/>
            </a:endParaRPr>
          </a:p>
        </p:txBody>
      </p:sp>
      <p:sp>
        <p:nvSpPr>
          <p:cNvPr id="80" name="Google Shape;80;p6"/>
          <p:cNvSpPr txBox="1"/>
          <p:nvPr/>
        </p:nvSpPr>
        <p:spPr>
          <a:xfrm>
            <a:off x="489444" y="4224524"/>
            <a:ext cx="8088900" cy="104641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dirty="0">
                <a:solidFill>
                  <a:schemeClr val="dk1"/>
                </a:solidFill>
                <a:latin typeface="New times roman"/>
                <a:ea typeface="Calibri"/>
                <a:cs typeface="Calibri"/>
                <a:sym typeface="Calibri"/>
              </a:rPr>
              <a:t>The objective of this project is to develop an automated and accurate oil spill detection system using remote sensing data and machine learning techniques. It aims to enhance detection accuracy, reduce false positives, and support timely response efforts to minimize environmental impact and protect marine and coastal ecosystems.</a:t>
            </a:r>
            <a:endParaRPr dirty="0">
              <a:latin typeface="New times roman"/>
            </a:endParaRPr>
          </a:p>
        </p:txBody>
      </p:sp>
      <p:sp>
        <p:nvSpPr>
          <p:cNvPr id="81" name="Google Shape;81;p6"/>
          <p:cNvSpPr txBox="1"/>
          <p:nvPr/>
        </p:nvSpPr>
        <p:spPr>
          <a:xfrm>
            <a:off x="528744" y="3646295"/>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073763"/>
                </a:solidFill>
                <a:latin typeface="Times New Roman"/>
                <a:ea typeface="Times New Roman"/>
                <a:cs typeface="Times New Roman"/>
                <a:sym typeface="Times New Roman"/>
              </a:rPr>
              <a:t>Objectives</a:t>
            </a:r>
            <a:r>
              <a:rPr lang="en-US" sz="2200" b="0" i="0" u="none" strike="noStrike" cap="none" dirty="0">
                <a:solidFill>
                  <a:srgbClr val="073763"/>
                </a:solidFill>
                <a:latin typeface="Times New Roman"/>
                <a:ea typeface="Times New Roman"/>
                <a:cs typeface="Times New Roman"/>
                <a:sym typeface="Times New Roman"/>
              </a:rPr>
              <a:t> </a:t>
            </a:r>
            <a:endParaRPr dirty="0">
              <a:solidFill>
                <a:srgbClr val="07376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87" name="Google Shape;87;p8"/>
          <p:cNvSpPr txBox="1"/>
          <p:nvPr/>
        </p:nvSpPr>
        <p:spPr>
          <a:xfrm>
            <a:off x="417094" y="137160"/>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Concepts and Methods</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88" name="Google Shape;88;p8"/>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89" name="Google Shape;89;p8"/>
          <p:cNvPicPr preferRelativeResize="0"/>
          <p:nvPr/>
        </p:nvPicPr>
        <p:blipFill rotWithShape="1">
          <a:blip r:embed="rId3">
            <a:alphaModFix/>
          </a:blip>
          <a:srcRect/>
          <a:stretch/>
        </p:blipFill>
        <p:spPr>
          <a:xfrm>
            <a:off x="0" y="5812967"/>
            <a:ext cx="999854" cy="1020451"/>
          </a:xfrm>
          <a:prstGeom prst="rect">
            <a:avLst/>
          </a:prstGeom>
          <a:noFill/>
          <a:ln>
            <a:noFill/>
          </a:ln>
        </p:spPr>
      </p:pic>
      <p:pic>
        <p:nvPicPr>
          <p:cNvPr id="2" name="Picture 1">
            <a:extLst>
              <a:ext uri="{FF2B5EF4-FFF2-40B4-BE49-F238E27FC236}">
                <a16:creationId xmlns:a16="http://schemas.microsoft.com/office/drawing/2014/main" id="{FFF89412-7D36-6767-BC49-AAF0CC29A03B}"/>
              </a:ext>
            </a:extLst>
          </p:cNvPr>
          <p:cNvPicPr>
            <a:picLocks noChangeAspect="1"/>
          </p:cNvPicPr>
          <p:nvPr/>
        </p:nvPicPr>
        <p:blipFill>
          <a:blip r:embed="rId4"/>
          <a:stretch>
            <a:fillRect/>
          </a:stretch>
        </p:blipFill>
        <p:spPr>
          <a:xfrm>
            <a:off x="6042385" y="757084"/>
            <a:ext cx="2880770" cy="4308491"/>
          </a:xfrm>
          <a:prstGeom prst="rect">
            <a:avLst/>
          </a:prstGeom>
        </p:spPr>
      </p:pic>
      <p:sp>
        <p:nvSpPr>
          <p:cNvPr id="6" name="TextBox 5">
            <a:extLst>
              <a:ext uri="{FF2B5EF4-FFF2-40B4-BE49-F238E27FC236}">
                <a16:creationId xmlns:a16="http://schemas.microsoft.com/office/drawing/2014/main" id="{320BDB8A-887A-7649-8597-62337AFD4E1C}"/>
              </a:ext>
            </a:extLst>
          </p:cNvPr>
          <p:cNvSpPr txBox="1"/>
          <p:nvPr/>
        </p:nvSpPr>
        <p:spPr>
          <a:xfrm>
            <a:off x="417094" y="850810"/>
            <a:ext cx="4813272" cy="397031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Satellite Imagery: Captures high resolution images of the ocean surface to detect and monitor oil spill patterns and spread.</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Remote Sensing: Utilizes various sensors on satellites to analyze the oil's spectral signature and differentiate it from water.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Data Analytics: Applies algorithms and machine learning to interpret oil spill data and satellite images, improving spill detection accuracy.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Aerial Surveillance (Drones and Aircraft):</a:t>
            </a:r>
          </a:p>
          <a:p>
            <a:r>
              <a:rPr lang="en-US" dirty="0">
                <a:latin typeface="Times New Roman" panose="02020603050405020304" pitchFamily="18" charset="0"/>
                <a:cs typeface="Times New Roman" panose="02020603050405020304" pitchFamily="18" charset="0"/>
              </a:rPr>
              <a:t>Captures high-resolution images or videos to visually detect and monitor oil spills, especially in remote areas.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059DD10B-D1E4-948C-DA08-1A24528168B9}"/>
              </a:ext>
            </a:extLst>
          </p:cNvPr>
          <p:cNvPicPr>
            <a:picLocks noChangeAspect="1"/>
          </p:cNvPicPr>
          <p:nvPr/>
        </p:nvPicPr>
        <p:blipFill>
          <a:blip r:embed="rId5"/>
          <a:stretch>
            <a:fillRect/>
          </a:stretch>
        </p:blipFill>
        <p:spPr>
          <a:xfrm>
            <a:off x="326587" y="4074341"/>
            <a:ext cx="5715798" cy="12193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6</a:t>
            </a:fld>
            <a:endParaRPr/>
          </a:p>
        </p:txBody>
      </p:sp>
      <p:sp>
        <p:nvSpPr>
          <p:cNvPr id="100" name="Google Shape;100;p9"/>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Literature Survey</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01" name="Google Shape;101;p9"/>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02" name="Google Shape;102;p9"/>
          <p:cNvPicPr preferRelativeResize="0"/>
          <p:nvPr/>
        </p:nvPicPr>
        <p:blipFill rotWithShape="1">
          <a:blip r:embed="rId3">
            <a:alphaModFix/>
          </a:blip>
          <a:srcRect/>
          <a:stretch/>
        </p:blipFill>
        <p:spPr>
          <a:xfrm>
            <a:off x="0" y="5812967"/>
            <a:ext cx="999854" cy="1020451"/>
          </a:xfrm>
          <a:prstGeom prst="rect">
            <a:avLst/>
          </a:prstGeom>
          <a:noFill/>
          <a:ln>
            <a:noFill/>
          </a:ln>
        </p:spPr>
      </p:pic>
      <p:graphicFrame>
        <p:nvGraphicFramePr>
          <p:cNvPr id="103" name="Google Shape;103;p9"/>
          <p:cNvGraphicFramePr/>
          <p:nvPr>
            <p:extLst>
              <p:ext uri="{D42A27DB-BD31-4B8C-83A1-F6EECF244321}">
                <p14:modId xmlns:p14="http://schemas.microsoft.com/office/powerpoint/2010/main" val="2164009569"/>
              </p:ext>
            </p:extLst>
          </p:nvPr>
        </p:nvGraphicFramePr>
        <p:xfrm>
          <a:off x="249350" y="863822"/>
          <a:ext cx="8727502" cy="4679129"/>
        </p:xfrm>
        <a:graphic>
          <a:graphicData uri="http://schemas.openxmlformats.org/drawingml/2006/table">
            <a:tbl>
              <a:tblPr>
                <a:noFill/>
                <a:tableStyleId>{6CB3F4C0-F2E8-4320-A34B-0B094AA10944}</a:tableStyleId>
              </a:tblPr>
              <a:tblGrid>
                <a:gridCol w="638775">
                  <a:extLst>
                    <a:ext uri="{9D8B030D-6E8A-4147-A177-3AD203B41FA5}">
                      <a16:colId xmlns:a16="http://schemas.microsoft.com/office/drawing/2014/main" val="20000"/>
                    </a:ext>
                  </a:extLst>
                </a:gridCol>
                <a:gridCol w="3261088">
                  <a:extLst>
                    <a:ext uri="{9D8B030D-6E8A-4147-A177-3AD203B41FA5}">
                      <a16:colId xmlns:a16="http://schemas.microsoft.com/office/drawing/2014/main" val="20001"/>
                    </a:ext>
                  </a:extLst>
                </a:gridCol>
                <a:gridCol w="1691148">
                  <a:extLst>
                    <a:ext uri="{9D8B030D-6E8A-4147-A177-3AD203B41FA5}">
                      <a16:colId xmlns:a16="http://schemas.microsoft.com/office/drawing/2014/main" val="20002"/>
                    </a:ext>
                  </a:extLst>
                </a:gridCol>
                <a:gridCol w="3136491">
                  <a:extLst>
                    <a:ext uri="{9D8B030D-6E8A-4147-A177-3AD203B41FA5}">
                      <a16:colId xmlns:a16="http://schemas.microsoft.com/office/drawing/2014/main" val="20003"/>
                    </a:ext>
                  </a:extLst>
                </a:gridCol>
              </a:tblGrid>
              <a:tr h="223446">
                <a:tc>
                  <a:txBody>
                    <a:bodyPr/>
                    <a:lstStyle/>
                    <a:p>
                      <a:pPr marL="0" lvl="0" indent="0" algn="l" rtl="0">
                        <a:spcBef>
                          <a:spcPts val="0"/>
                        </a:spcBef>
                        <a:spcAft>
                          <a:spcPts val="0"/>
                        </a:spcAft>
                        <a:buNone/>
                      </a:pPr>
                      <a:r>
                        <a:rPr lang="en-US" sz="1200" b="1">
                          <a:latin typeface="Calibri"/>
                          <a:ea typeface="Calibri"/>
                          <a:cs typeface="Calibri"/>
                          <a:sym typeface="Calibri"/>
                        </a:rPr>
                        <a:t>Sr. no</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Literature Title</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Author</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Findings</a:t>
                      </a:r>
                      <a:endParaRPr sz="1200" b="1">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1147429">
                <a:tc>
                  <a:txBody>
                    <a:bodyPr/>
                    <a:lstStyle/>
                    <a:p>
                      <a:pPr marL="0" lvl="0" indent="0" algn="ctr" rtl="0">
                        <a:spcBef>
                          <a:spcPts val="0"/>
                        </a:spcBef>
                        <a:spcAft>
                          <a:spcPts val="0"/>
                        </a:spcAft>
                        <a:buNone/>
                      </a:pPr>
                      <a:r>
                        <a:rPr lang="en-US" sz="1200">
                          <a:latin typeface="Calibri"/>
                          <a:ea typeface="Calibri"/>
                          <a:cs typeface="Calibri"/>
                          <a:sym typeface="Calibri"/>
                        </a:rPr>
                        <a:t>1.</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latin typeface="Times New Roman" panose="02020603050405020304" pitchFamily="18" charset="0"/>
                          <a:cs typeface="Times New Roman" panose="02020603050405020304" pitchFamily="18" charset="0"/>
                        </a:rPr>
                        <a:t>The Application of Satellite Image Analysis in Oil Spill Detection</a:t>
                      </a:r>
                      <a:endParaRPr sz="1200" dirty="0">
                        <a:latin typeface="Times New Roman" panose="02020603050405020304" pitchFamily="18" charset="0"/>
                        <a:ea typeface="Calibri"/>
                        <a:cs typeface="Times New Roman" panose="02020603050405020304" pitchFamily="18" charset="0"/>
                        <a:sym typeface="Calibri"/>
                      </a:endParaRPr>
                    </a:p>
                  </a:txBody>
                  <a:tcPr marL="91425" marR="91425" marT="91425" marB="91425"/>
                </a:tc>
                <a:tc>
                  <a:txBody>
                    <a:bodyPr/>
                    <a:lstStyle/>
                    <a:p>
                      <a:pPr marL="0" lvl="0" indent="0" algn="l" rtl="0">
                        <a:spcBef>
                          <a:spcPts val="0"/>
                        </a:spcBef>
                        <a:spcAft>
                          <a:spcPts val="0"/>
                        </a:spcAft>
                        <a:buNone/>
                      </a:pPr>
                      <a:r>
                        <a:rPr lang="pl-PL" sz="1200" dirty="0">
                          <a:latin typeface="Times New Roman" panose="02020603050405020304" pitchFamily="18" charset="0"/>
                          <a:ea typeface="Calibri"/>
                          <a:cs typeface="Times New Roman" panose="02020603050405020304" pitchFamily="18" charset="0"/>
                          <a:sym typeface="Calibri"/>
                        </a:rPr>
                        <a:t>Paweł Tysiąc, </a:t>
                      </a:r>
                      <a:endParaRPr lang="en-IN" sz="1200" dirty="0">
                        <a:latin typeface="Times New Roman" panose="02020603050405020304" pitchFamily="18" charset="0"/>
                        <a:ea typeface="Calibri"/>
                        <a:cs typeface="Times New Roman" panose="02020603050405020304" pitchFamily="18" charset="0"/>
                        <a:sym typeface="Calibri"/>
                      </a:endParaRPr>
                    </a:p>
                    <a:p>
                      <a:pPr marL="0" lvl="0" indent="0" algn="l" rtl="0">
                        <a:spcBef>
                          <a:spcPts val="0"/>
                        </a:spcBef>
                        <a:spcAft>
                          <a:spcPts val="0"/>
                        </a:spcAft>
                        <a:buNone/>
                      </a:pPr>
                      <a:r>
                        <a:rPr lang="pl-PL" sz="1200" dirty="0">
                          <a:latin typeface="Times New Roman" panose="02020603050405020304" pitchFamily="18" charset="0"/>
                          <a:ea typeface="Calibri"/>
                          <a:cs typeface="Times New Roman" panose="02020603050405020304" pitchFamily="18" charset="0"/>
                          <a:sym typeface="Calibri"/>
                        </a:rPr>
                        <a:t>Tatiana Strelets, Weronika Tuszyńska</a:t>
                      </a:r>
                      <a:endParaRPr sz="1200" dirty="0">
                        <a:latin typeface="Times New Roman" panose="02020603050405020304" pitchFamily="18" charset="0"/>
                        <a:ea typeface="Calibri"/>
                        <a:cs typeface="Times New Roman" panose="02020603050405020304" pitchFamily="18" charset="0"/>
                        <a:sym typeface="Calibri"/>
                      </a:endParaRPr>
                    </a:p>
                  </a:txBody>
                  <a:tcPr marL="91425" marR="91425" marT="91425" marB="91425"/>
                </a:tc>
                <a:tc>
                  <a:txBody>
                    <a:bodyPr/>
                    <a:lstStyle/>
                    <a:p>
                      <a:pPr marL="152400" lvl="0" indent="0" algn="l" rtl="0">
                        <a:spcBef>
                          <a:spcPts val="0"/>
                        </a:spcBef>
                        <a:spcAft>
                          <a:spcPts val="0"/>
                        </a:spcAft>
                        <a:buSzPts val="1200"/>
                        <a:buFont typeface="Calibri"/>
                        <a:buNone/>
                      </a:pPr>
                      <a:r>
                        <a:rPr lang="en-US" sz="1200" dirty="0">
                          <a:latin typeface="Times New Roman" panose="02020603050405020304" pitchFamily="18" charset="0"/>
                          <a:ea typeface="Calibri"/>
                          <a:cs typeface="Times New Roman" panose="02020603050405020304" pitchFamily="18" charset="0"/>
                          <a:sym typeface="Calibri"/>
                        </a:rPr>
                        <a:t>This study explores the use of satellite imagery for detecting oil spills, emphasizing the effectiveness of synthetic aperture radar (SAR) data in identifying oil slicks under various environmental conditions.</a:t>
                      </a:r>
                      <a:endParaRPr sz="1200" dirty="0">
                        <a:latin typeface="Times New Roman" panose="02020603050405020304" pitchFamily="18" charset="0"/>
                        <a:ea typeface="Calibri"/>
                        <a:cs typeface="Times New Roman" panose="02020603050405020304" pitchFamily="18" charset="0"/>
                        <a:sym typeface="Calibri"/>
                      </a:endParaRPr>
                    </a:p>
                  </a:txBody>
                  <a:tcPr marL="91425" marR="91425" marT="91425" marB="91425"/>
                </a:tc>
                <a:extLst>
                  <a:ext uri="{0D108BD9-81ED-4DB2-BD59-A6C34878D82A}">
                    <a16:rowId xmlns:a16="http://schemas.microsoft.com/office/drawing/2014/main" val="10001"/>
                  </a:ext>
                </a:extLst>
              </a:tr>
              <a:tr h="1311352">
                <a:tc>
                  <a:txBody>
                    <a:bodyPr/>
                    <a:lstStyle/>
                    <a:p>
                      <a:pPr marL="0" lvl="0" indent="0" algn="ctr" rtl="0">
                        <a:spcBef>
                          <a:spcPts val="0"/>
                        </a:spcBef>
                        <a:spcAft>
                          <a:spcPts val="0"/>
                        </a:spcAft>
                        <a:buNone/>
                      </a:pPr>
                      <a:r>
                        <a:rPr lang="en-US" sz="1200">
                          <a:latin typeface="Calibri"/>
                          <a:ea typeface="Calibri"/>
                          <a:cs typeface="Calibri"/>
                          <a:sym typeface="Calibri"/>
                        </a:rPr>
                        <a:t>2.</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latin typeface="Times New Roman" panose="02020603050405020304" pitchFamily="18" charset="0"/>
                          <a:ea typeface="Calibri"/>
                          <a:cs typeface="Times New Roman" panose="02020603050405020304" pitchFamily="18" charset="0"/>
                          <a:sym typeface="Calibri"/>
                        </a:rPr>
                        <a:t>Hyperspectral Remote Sensing Benchmark Database for Oil Spill Detection with an Isolation Forest-Guided Unsupervised Detector</a:t>
                      </a:r>
                      <a:endParaRPr sz="1200" dirty="0">
                        <a:latin typeface="Times New Roman" panose="02020603050405020304" pitchFamily="18" charset="0"/>
                        <a:ea typeface="Calibri"/>
                        <a:cs typeface="Times New Roman" panose="02020603050405020304" pitchFamily="18" charset="0"/>
                        <a:sym typeface="Calibri"/>
                      </a:endParaRPr>
                    </a:p>
                  </a:txBody>
                  <a:tcPr marL="91425" marR="91425" marT="91425" marB="91425"/>
                </a:tc>
                <a:tc>
                  <a:txBody>
                    <a:bodyPr/>
                    <a:lstStyle/>
                    <a:p>
                      <a:pPr marL="0" lvl="0" indent="0" algn="l" rtl="0">
                        <a:spcBef>
                          <a:spcPts val="0"/>
                        </a:spcBef>
                        <a:spcAft>
                          <a:spcPts val="0"/>
                        </a:spcAft>
                        <a:buNone/>
                      </a:pPr>
                      <a:r>
                        <a:rPr lang="en-US" sz="1200" dirty="0">
                          <a:latin typeface="Calibri"/>
                          <a:ea typeface="Calibri"/>
                          <a:cs typeface="Calibri"/>
                          <a:sym typeface="Calibri"/>
                        </a:rPr>
                        <a:t> </a:t>
                      </a:r>
                      <a:r>
                        <a:rPr lang="en-IN" sz="1200" dirty="0" err="1">
                          <a:latin typeface="Times New Roman" panose="02020603050405020304" pitchFamily="18" charset="0"/>
                          <a:cs typeface="Times New Roman" panose="02020603050405020304" pitchFamily="18" charset="0"/>
                        </a:rPr>
                        <a:t>Puhong</a:t>
                      </a:r>
                      <a:r>
                        <a:rPr lang="en-IN" sz="1200" dirty="0">
                          <a:latin typeface="Times New Roman" panose="02020603050405020304" pitchFamily="18" charset="0"/>
                          <a:cs typeface="Times New Roman" panose="02020603050405020304" pitchFamily="18" charset="0"/>
                        </a:rPr>
                        <a:t> Duan, </a:t>
                      </a:r>
                    </a:p>
                    <a:p>
                      <a:pPr marL="0" lvl="0" indent="0" algn="l" rtl="0">
                        <a:spcBef>
                          <a:spcPts val="0"/>
                        </a:spcBef>
                        <a:spcAft>
                          <a:spcPts val="0"/>
                        </a:spcAft>
                        <a:buNone/>
                      </a:pPr>
                      <a:r>
                        <a:rPr lang="en-IN" sz="1200" dirty="0" err="1">
                          <a:latin typeface="Times New Roman" panose="02020603050405020304" pitchFamily="18" charset="0"/>
                          <a:cs typeface="Times New Roman" panose="02020603050405020304" pitchFamily="18" charset="0"/>
                        </a:rPr>
                        <a:t>Xudong</a:t>
                      </a:r>
                      <a:r>
                        <a:rPr lang="en-IN" sz="1200" dirty="0">
                          <a:latin typeface="Times New Roman" panose="02020603050405020304" pitchFamily="18" charset="0"/>
                          <a:cs typeface="Times New Roman" panose="02020603050405020304" pitchFamily="18" charset="0"/>
                        </a:rPr>
                        <a:t> Kang, </a:t>
                      </a:r>
                    </a:p>
                    <a:p>
                      <a:pPr marL="0" lvl="0" indent="0" algn="l" rtl="0">
                        <a:spcBef>
                          <a:spcPts val="0"/>
                        </a:spcBef>
                        <a:spcAft>
                          <a:spcPts val="0"/>
                        </a:spcAft>
                        <a:buNone/>
                      </a:pPr>
                      <a:r>
                        <a:rPr lang="en-IN" sz="1200" dirty="0">
                          <a:latin typeface="Times New Roman" panose="02020603050405020304" pitchFamily="18" charset="0"/>
                          <a:cs typeface="Times New Roman" panose="02020603050405020304" pitchFamily="18" charset="0"/>
                        </a:rPr>
                        <a:t>Pedram </a:t>
                      </a:r>
                      <a:r>
                        <a:rPr lang="en-IN" sz="1200" dirty="0" err="1">
                          <a:latin typeface="Times New Roman" panose="02020603050405020304" pitchFamily="18" charset="0"/>
                          <a:cs typeface="Times New Roman" panose="02020603050405020304" pitchFamily="18" charset="0"/>
                        </a:rPr>
                        <a:t>Ghamisi</a:t>
                      </a:r>
                      <a:endParaRPr sz="1200" dirty="0">
                        <a:latin typeface="Times New Roman" panose="02020603050405020304" pitchFamily="18" charset="0"/>
                        <a:ea typeface="Calibri"/>
                        <a:cs typeface="Times New Roman" panose="02020603050405020304" pitchFamily="18" charset="0"/>
                        <a:sym typeface="Calibri"/>
                      </a:endParaRPr>
                    </a:p>
                  </a:txBody>
                  <a:tcPr marL="91425" marR="91425" marT="91425" marB="91425"/>
                </a:tc>
                <a:tc>
                  <a:txBody>
                    <a:bodyPr/>
                    <a:lstStyle/>
                    <a:p>
                      <a:pPr marL="152400" lvl="0" indent="0" algn="l" rtl="0">
                        <a:spcBef>
                          <a:spcPts val="0"/>
                        </a:spcBef>
                        <a:spcAft>
                          <a:spcPts val="0"/>
                        </a:spcAft>
                        <a:buSzPts val="1200"/>
                        <a:buFont typeface="Calibri"/>
                        <a:buNone/>
                      </a:pPr>
                      <a:r>
                        <a:rPr lang="en-US" sz="1200" dirty="0">
                          <a:latin typeface="Times New Roman" panose="02020603050405020304" pitchFamily="18" charset="0"/>
                          <a:cs typeface="Times New Roman" panose="02020603050405020304" pitchFamily="18" charset="0"/>
                        </a:rPr>
                        <a:t>The paper introduces an unsupervised method for oil spill detection using hyperspectral imagery, by employing an Isolation Forest algorithm. The approach effectively distinguishes oil spills from seawater without the need for extensive labeled datasets. </a:t>
                      </a:r>
                      <a:endParaRPr sz="1200" dirty="0">
                        <a:solidFill>
                          <a:srgbClr val="000000"/>
                        </a:solidFill>
                        <a:latin typeface="Times New Roman" panose="02020603050405020304" pitchFamily="18" charset="0"/>
                        <a:ea typeface="Calibri"/>
                        <a:cs typeface="Times New Roman" panose="02020603050405020304" pitchFamily="18" charset="0"/>
                        <a:sym typeface="Calibri"/>
                      </a:endParaRPr>
                    </a:p>
                  </a:txBody>
                  <a:tcPr marL="91425" marR="91425" marT="91425" marB="91425"/>
                </a:tc>
                <a:extLst>
                  <a:ext uri="{0D108BD9-81ED-4DB2-BD59-A6C34878D82A}">
                    <a16:rowId xmlns:a16="http://schemas.microsoft.com/office/drawing/2014/main" val="10002"/>
                  </a:ext>
                </a:extLst>
              </a:tr>
              <a:tr h="1702960">
                <a:tc>
                  <a:txBody>
                    <a:bodyPr/>
                    <a:lstStyle/>
                    <a:p>
                      <a:pPr marL="0" lvl="0" indent="0" algn="ctr" rtl="0">
                        <a:spcBef>
                          <a:spcPts val="0"/>
                        </a:spcBef>
                        <a:spcAft>
                          <a:spcPts val="0"/>
                        </a:spcAft>
                        <a:buNone/>
                      </a:pPr>
                      <a:r>
                        <a:rPr lang="en-US" sz="1200">
                          <a:latin typeface="Calibri"/>
                          <a:ea typeface="Calibri"/>
                          <a:cs typeface="Calibri"/>
                          <a:sym typeface="Calibri"/>
                        </a:rPr>
                        <a:t>3.</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latin typeface="Times New Roman" panose="02020603050405020304" pitchFamily="18" charset="0"/>
                          <a:ea typeface="Calibri"/>
                          <a:cs typeface="Times New Roman" panose="02020603050405020304" pitchFamily="18" charset="0"/>
                          <a:sym typeface="Calibri"/>
                        </a:rPr>
                        <a:t>Variable-Complexity Machine Learning Models for Large-Scale Oil Spill Detection: The Case of Persian Gulf</a:t>
                      </a:r>
                      <a:endParaRPr sz="1200" dirty="0">
                        <a:latin typeface="Times New Roman" panose="02020603050405020304" pitchFamily="18" charset="0"/>
                        <a:ea typeface="Calibri"/>
                        <a:cs typeface="Times New Roman" panose="02020603050405020304" pitchFamily="18" charset="0"/>
                        <a:sym typeface="Calibri"/>
                      </a:endParaRPr>
                    </a:p>
                  </a:txBody>
                  <a:tcPr marL="91425" marR="91425" marT="91425" marB="91425"/>
                </a:tc>
                <a:tc>
                  <a:txBody>
                    <a:bodyPr/>
                    <a:lstStyle/>
                    <a:p>
                      <a:pPr marL="0" lvl="0" indent="0" algn="l" rtl="0">
                        <a:spcBef>
                          <a:spcPts val="0"/>
                        </a:spcBef>
                        <a:spcAft>
                          <a:spcPts val="0"/>
                        </a:spcAft>
                        <a:buNone/>
                      </a:pPr>
                      <a:r>
                        <a:rPr lang="en-IN" sz="1200" b="0" dirty="0">
                          <a:latin typeface="Times New Roman" panose="02020603050405020304" pitchFamily="18" charset="0"/>
                          <a:cs typeface="Times New Roman" panose="02020603050405020304" pitchFamily="18" charset="0"/>
                        </a:rPr>
                        <a:t>Mohammad Danesh-Yazdi. </a:t>
                      </a:r>
                    </a:p>
                    <a:p>
                      <a:pPr marL="0" lvl="0" indent="0" algn="l" rtl="0">
                        <a:spcBef>
                          <a:spcPts val="0"/>
                        </a:spcBef>
                        <a:spcAft>
                          <a:spcPts val="0"/>
                        </a:spcAft>
                        <a:buNone/>
                      </a:pPr>
                      <a:r>
                        <a:rPr lang="en-IN" sz="1200" dirty="0">
                          <a:latin typeface="Times New Roman" panose="02020603050405020304" pitchFamily="18" charset="0"/>
                          <a:cs typeface="Times New Roman" panose="02020603050405020304" pitchFamily="18" charset="0"/>
                        </a:rPr>
                        <a:t>Sahand </a:t>
                      </a:r>
                      <a:r>
                        <a:rPr lang="en-IN" sz="1200" dirty="0" err="1">
                          <a:latin typeface="Times New Roman" panose="02020603050405020304" pitchFamily="18" charset="0"/>
                          <a:cs typeface="Times New Roman" panose="02020603050405020304" pitchFamily="18" charset="0"/>
                        </a:rPr>
                        <a:t>Najafizadegan</a:t>
                      </a:r>
                      <a:endParaRPr sz="1200" dirty="0">
                        <a:latin typeface="Times New Roman" panose="02020603050405020304" pitchFamily="18" charset="0"/>
                        <a:ea typeface="Calibri"/>
                        <a:cs typeface="Times New Roman" panose="02020603050405020304" pitchFamily="18" charset="0"/>
                        <a:sym typeface="Calibri"/>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latin typeface="Times New Roman" panose="02020603050405020304" pitchFamily="18" charset="0"/>
                          <a:cs typeface="Times New Roman" panose="02020603050405020304" pitchFamily="18" charset="0"/>
                        </a:rPr>
                        <a:t>    Developed and compared machine learning   models—Support Vector Machine (SVM), Random Forest (RF), and Convolutional Neural Network (CNN), Found that CNN outperformed RF and SVM, achieving a testing accuracy of 95.8%, indicating its robustness for large-scale oil spill detection.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200"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7</a:t>
            </a:fld>
            <a:endParaRPr/>
          </a:p>
        </p:txBody>
      </p:sp>
      <p:sp>
        <p:nvSpPr>
          <p:cNvPr id="109" name="Google Shape;109;p7"/>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10" name="Google Shape;110;p7"/>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11" name="Google Shape;111;p7"/>
          <p:cNvSpPr txBox="1"/>
          <p:nvPr/>
        </p:nvSpPr>
        <p:spPr>
          <a:xfrm>
            <a:off x="252900" y="659115"/>
            <a:ext cx="8638200" cy="487644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b="1" dirty="0">
                <a:solidFill>
                  <a:srgbClr val="BF9000"/>
                </a:solidFill>
                <a:latin typeface="Calibri"/>
                <a:ea typeface="Calibri"/>
                <a:cs typeface="Calibri"/>
                <a:sym typeface="Calibri"/>
              </a:rPr>
              <a:t>Identification of Gaps</a:t>
            </a:r>
            <a:endParaRPr sz="1900" b="1" dirty="0">
              <a:solidFill>
                <a:srgbClr val="BF9000"/>
              </a:solidFill>
              <a:latin typeface="Calibri"/>
              <a:ea typeface="Calibri"/>
              <a:cs typeface="Calibri"/>
              <a:sym typeface="Calibri"/>
            </a:endParaRPr>
          </a:p>
          <a:p>
            <a:pPr marL="0" lvl="0" indent="0" algn="l" rtl="0">
              <a:spcBef>
                <a:spcPts val="0"/>
              </a:spcBef>
              <a:spcAft>
                <a:spcPts val="0"/>
              </a:spcAft>
              <a:buNone/>
            </a:pPr>
            <a:endParaRPr sz="1200" b="1" u="sng"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Limited Dataset Availability: </a:t>
            </a:r>
            <a:r>
              <a:rPr lang="en-US" dirty="0">
                <a:latin typeface="Calibri"/>
                <a:ea typeface="Calibri"/>
                <a:cs typeface="Calibri"/>
                <a:sym typeface="Calibri"/>
              </a:rPr>
              <a:t>Lack of large, labeled datasets for training and evaluating machine learning models  specific to oil spills.</a:t>
            </a:r>
          </a:p>
          <a:p>
            <a:pPr marL="0" lvl="0" indent="0" algn="l" rtl="0">
              <a:spcBef>
                <a:spcPts val="0"/>
              </a:spcBef>
              <a:spcAft>
                <a:spcPts val="0"/>
              </a:spcAft>
              <a:buNone/>
            </a:pPr>
            <a:r>
              <a:rPr lang="en-US" b="1" dirty="0">
                <a:latin typeface="Calibri"/>
                <a:ea typeface="Calibri"/>
                <a:cs typeface="Calibri"/>
                <a:sym typeface="Calibri"/>
              </a:rPr>
              <a:t>Detection Accuracy: </a:t>
            </a:r>
            <a:r>
              <a:rPr lang="en-US" dirty="0">
                <a:latin typeface="Calibri"/>
                <a:ea typeface="Calibri"/>
                <a:cs typeface="Calibri"/>
                <a:sym typeface="Calibri"/>
              </a:rPr>
              <a:t>Existing models may struggle with distinguishing oil spills from similar-looking features (e.g., algal blooms, ship waves).</a:t>
            </a:r>
          </a:p>
          <a:p>
            <a:pPr marL="0" lvl="0" indent="0" algn="l" rtl="0">
              <a:spcBef>
                <a:spcPts val="0"/>
              </a:spcBef>
              <a:spcAft>
                <a:spcPts val="0"/>
              </a:spcAft>
              <a:buNone/>
            </a:pPr>
            <a:r>
              <a:rPr lang="en-US" b="1" dirty="0">
                <a:latin typeface="Calibri"/>
                <a:ea typeface="Calibri"/>
                <a:cs typeface="Calibri"/>
                <a:sym typeface="Calibri"/>
              </a:rPr>
              <a:t>Resolution Constraints: </a:t>
            </a:r>
            <a:r>
              <a:rPr lang="en-US" dirty="0">
                <a:latin typeface="Calibri"/>
                <a:ea typeface="Calibri"/>
                <a:cs typeface="Calibri"/>
                <a:sym typeface="Calibri"/>
              </a:rPr>
              <a:t>Many satellite images have medium to low resolution, reducing the ability to detect small-scale spills.</a:t>
            </a:r>
          </a:p>
          <a:p>
            <a:pPr marL="0" lvl="0" indent="0" algn="l" rtl="0">
              <a:spcBef>
                <a:spcPts val="0"/>
              </a:spcBef>
              <a:spcAft>
                <a:spcPts val="0"/>
              </a:spcAft>
              <a:buNone/>
            </a:pPr>
            <a:r>
              <a:rPr lang="en-US" b="1" dirty="0">
                <a:latin typeface="Calibri"/>
                <a:ea typeface="Calibri"/>
                <a:cs typeface="Calibri"/>
                <a:sym typeface="Calibri"/>
              </a:rPr>
              <a:t>Environmental Variability: </a:t>
            </a:r>
            <a:r>
              <a:rPr lang="en-US" dirty="0">
                <a:latin typeface="Calibri"/>
                <a:ea typeface="Calibri"/>
                <a:cs typeface="Calibri"/>
                <a:sym typeface="Calibri"/>
              </a:rPr>
              <a:t>Changing sea conditions (waves, wind, lighting) affect the reliability of detection algorithms.</a:t>
            </a:r>
          </a:p>
          <a:p>
            <a:pPr marL="0" lvl="0" indent="0" algn="l" rtl="0">
              <a:spcBef>
                <a:spcPts val="0"/>
              </a:spcBef>
              <a:spcAft>
                <a:spcPts val="0"/>
              </a:spcAft>
              <a:buNone/>
            </a:pPr>
            <a:endParaRPr sz="1200" dirty="0">
              <a:latin typeface="Calibri"/>
              <a:ea typeface="Calibri"/>
              <a:cs typeface="Calibri"/>
              <a:sym typeface="Calibri"/>
            </a:endParaRPr>
          </a:p>
          <a:p>
            <a:pPr marL="0" lvl="0" indent="0" algn="l" rtl="0">
              <a:spcBef>
                <a:spcPts val="0"/>
              </a:spcBef>
              <a:spcAft>
                <a:spcPts val="0"/>
              </a:spcAft>
              <a:buNone/>
            </a:pPr>
            <a:r>
              <a:rPr lang="en-US" sz="1900" b="1" dirty="0">
                <a:solidFill>
                  <a:srgbClr val="BF9000"/>
                </a:solidFill>
                <a:latin typeface="Calibri"/>
                <a:ea typeface="Calibri"/>
                <a:cs typeface="Calibri"/>
                <a:sym typeface="Calibri"/>
              </a:rPr>
              <a:t>Scope of Work</a:t>
            </a:r>
          </a:p>
          <a:p>
            <a:pPr marL="0" lvl="0" indent="0" algn="l" rtl="0">
              <a:spcBef>
                <a:spcPts val="0"/>
              </a:spcBef>
              <a:spcAft>
                <a:spcPts val="0"/>
              </a:spcAft>
              <a:buNone/>
            </a:pPr>
            <a:endParaRPr lang="en-IN" sz="700" b="1" dirty="0">
              <a:solidFill>
                <a:srgbClr val="BF9000"/>
              </a:solidFill>
              <a:latin typeface="Calibri"/>
              <a:ea typeface="Calibri"/>
              <a:cs typeface="Calibri"/>
              <a:sym typeface="Calibri"/>
            </a:endParaRPr>
          </a:p>
          <a:p>
            <a:pPr marL="139700" lvl="0" algn="l" rtl="0">
              <a:spcBef>
                <a:spcPts val="0"/>
              </a:spcBef>
              <a:spcAft>
                <a:spcPts val="0"/>
              </a:spcAft>
              <a:buClr>
                <a:srgbClr val="000000"/>
              </a:buClr>
              <a:buSzPts val="1400"/>
            </a:pPr>
            <a:r>
              <a:rPr lang="en-US" b="1" dirty="0">
                <a:solidFill>
                  <a:srgbClr val="000000"/>
                </a:solidFill>
                <a:latin typeface="Calibri"/>
                <a:ea typeface="Calibri"/>
                <a:cs typeface="Calibri"/>
                <a:sym typeface="Calibri"/>
              </a:rPr>
              <a:t>Data Collection: </a:t>
            </a:r>
            <a:r>
              <a:rPr lang="en-US" dirty="0">
                <a:solidFill>
                  <a:srgbClr val="000000"/>
                </a:solidFill>
                <a:latin typeface="Calibri"/>
                <a:ea typeface="Calibri"/>
                <a:cs typeface="Calibri"/>
                <a:sym typeface="Calibri"/>
              </a:rPr>
              <a:t>Gather and preprocess satellite (SAR/optical) or drone-based images of oil spills and clean sea surfaces.</a:t>
            </a:r>
          </a:p>
          <a:p>
            <a:pPr marL="139700" lvl="0" algn="l" rtl="0">
              <a:spcBef>
                <a:spcPts val="0"/>
              </a:spcBef>
              <a:spcAft>
                <a:spcPts val="0"/>
              </a:spcAft>
              <a:buClr>
                <a:srgbClr val="000000"/>
              </a:buClr>
              <a:buSzPts val="1400"/>
            </a:pPr>
            <a:r>
              <a:rPr lang="en-US" b="1" dirty="0">
                <a:solidFill>
                  <a:srgbClr val="000000"/>
                </a:solidFill>
                <a:latin typeface="Calibri"/>
                <a:ea typeface="Calibri"/>
                <a:cs typeface="Calibri"/>
                <a:sym typeface="Calibri"/>
              </a:rPr>
              <a:t>Model Development: </a:t>
            </a:r>
            <a:r>
              <a:rPr lang="en-US" dirty="0">
                <a:solidFill>
                  <a:srgbClr val="000000"/>
                </a:solidFill>
                <a:latin typeface="Calibri"/>
                <a:ea typeface="Calibri"/>
                <a:cs typeface="Calibri"/>
                <a:sym typeface="Calibri"/>
              </a:rPr>
              <a:t>Design and train a machine learning or deep learning model capable of accurately identifying oil spills.</a:t>
            </a:r>
          </a:p>
          <a:p>
            <a:pPr marL="139700" lvl="0" algn="l" rtl="0">
              <a:spcBef>
                <a:spcPts val="0"/>
              </a:spcBef>
              <a:spcAft>
                <a:spcPts val="0"/>
              </a:spcAft>
              <a:buClr>
                <a:srgbClr val="000000"/>
              </a:buClr>
              <a:buSzPts val="1400"/>
            </a:pPr>
            <a:r>
              <a:rPr lang="en-US" b="1" dirty="0">
                <a:solidFill>
                  <a:srgbClr val="000000"/>
                </a:solidFill>
                <a:latin typeface="Calibri"/>
                <a:ea typeface="Calibri"/>
                <a:cs typeface="Calibri"/>
                <a:sym typeface="Calibri"/>
              </a:rPr>
              <a:t>Evaluation: </a:t>
            </a:r>
            <a:r>
              <a:rPr lang="en-US" dirty="0">
                <a:solidFill>
                  <a:srgbClr val="000000"/>
                </a:solidFill>
                <a:latin typeface="Calibri"/>
                <a:ea typeface="Calibri"/>
                <a:cs typeface="Calibri"/>
                <a:sym typeface="Calibri"/>
              </a:rPr>
              <a:t>Test model accuracy using performance metrics like precision, recall, F1-score, and confusion matrix.</a:t>
            </a:r>
          </a:p>
          <a:p>
            <a:pPr marL="139700" lvl="0" algn="l" rtl="0">
              <a:spcBef>
                <a:spcPts val="0"/>
              </a:spcBef>
              <a:spcAft>
                <a:spcPts val="0"/>
              </a:spcAft>
              <a:buClr>
                <a:srgbClr val="000000"/>
              </a:buClr>
              <a:buSzPts val="1400"/>
            </a:pPr>
            <a:r>
              <a:rPr lang="en-US" b="1" dirty="0">
                <a:solidFill>
                  <a:srgbClr val="000000"/>
                </a:solidFill>
                <a:latin typeface="Calibri"/>
                <a:ea typeface="Calibri"/>
                <a:cs typeface="Calibri"/>
                <a:sym typeface="Calibri"/>
              </a:rPr>
              <a:t>Comparative Analysis: </a:t>
            </a:r>
            <a:r>
              <a:rPr lang="en-US" dirty="0">
                <a:solidFill>
                  <a:srgbClr val="000000"/>
                </a:solidFill>
                <a:latin typeface="Calibri"/>
                <a:ea typeface="Calibri"/>
                <a:cs typeface="Calibri"/>
                <a:sym typeface="Calibri"/>
              </a:rPr>
              <a:t>Compare different algorithms (e.g., SVM, CNN, Random Forest) to identify the most suitable method.</a:t>
            </a:r>
          </a:p>
          <a:p>
            <a:pPr marL="139700" lvl="0" algn="l" rtl="0">
              <a:spcBef>
                <a:spcPts val="0"/>
              </a:spcBef>
              <a:spcAft>
                <a:spcPts val="0"/>
              </a:spcAft>
              <a:buClr>
                <a:srgbClr val="000000"/>
              </a:buClr>
              <a:buSzPts val="1400"/>
            </a:pPr>
            <a:r>
              <a:rPr lang="en-US" b="1" dirty="0">
                <a:solidFill>
                  <a:srgbClr val="000000"/>
                </a:solidFill>
                <a:latin typeface="Calibri"/>
                <a:ea typeface="Calibri"/>
                <a:cs typeface="Calibri"/>
                <a:sym typeface="Calibri"/>
              </a:rPr>
              <a:t>Scalability: </a:t>
            </a:r>
            <a:r>
              <a:rPr lang="en-US" dirty="0">
                <a:solidFill>
                  <a:srgbClr val="000000"/>
                </a:solidFill>
                <a:latin typeface="Calibri"/>
                <a:ea typeface="Calibri"/>
                <a:cs typeface="Calibri"/>
                <a:sym typeface="Calibri"/>
              </a:rPr>
              <a:t>Investigate the model’s ability to be deployed at scale for large geographic areas using satellite data.</a:t>
            </a:r>
          </a:p>
        </p:txBody>
      </p:sp>
      <p:sp>
        <p:nvSpPr>
          <p:cNvPr id="112" name="Google Shape;112;p7"/>
          <p:cNvSpPr txBox="1"/>
          <p:nvPr/>
        </p:nvSpPr>
        <p:spPr>
          <a:xfrm>
            <a:off x="252900" y="46603"/>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dirty="0">
                <a:solidFill>
                  <a:srgbClr val="C00000"/>
                </a:solidFill>
                <a:latin typeface="Times New Roman"/>
                <a:ea typeface="Times New Roman"/>
                <a:cs typeface="Times New Roman"/>
                <a:sym typeface="Times New Roman"/>
              </a:rPr>
              <a:t>Identification of gaps &amp; scope of work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8</a:t>
            </a:fld>
            <a:endParaRPr/>
          </a:p>
        </p:txBody>
      </p:sp>
      <p:sp>
        <p:nvSpPr>
          <p:cNvPr id="118" name="Google Shape;118;p12"/>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Implementation</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19" name="Google Shape;119;p12"/>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20" name="Google Shape;120;p12"/>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9</a:t>
            </a:fld>
            <a:endParaRPr/>
          </a:p>
        </p:txBody>
      </p:sp>
      <p:sp>
        <p:nvSpPr>
          <p:cNvPr id="126" name="Google Shape;126;p13"/>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Results</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27" name="Google Shape;127;p13"/>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sp>
        <p:nvSpPr>
          <p:cNvPr id="128" name="Google Shape;128;p13"/>
          <p:cNvSpPr txBox="1"/>
          <p:nvPr/>
        </p:nvSpPr>
        <p:spPr>
          <a:xfrm>
            <a:off x="416300" y="949250"/>
            <a:ext cx="8341799" cy="49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600" dirty="0">
                <a:latin typeface="Times New Roman" panose="02020603050405020304" pitchFamily="18" charset="0"/>
                <a:cs typeface="Times New Roman" panose="02020603050405020304" pitchFamily="18" charset="0"/>
              </a:rPr>
              <a:t>1) Economic Benefits: Cuts costs, boosts growth, and creates jobs. </a:t>
            </a:r>
          </a:p>
          <a:p>
            <a:pPr marL="0" lvl="0" indent="0" algn="l" rtl="0">
              <a:spcBef>
                <a:spcPts val="0"/>
              </a:spcBef>
              <a:spcAft>
                <a:spcPts val="0"/>
              </a:spcAft>
              <a:buClr>
                <a:schemeClr val="dk1"/>
              </a:buClr>
              <a:buSzPts val="1100"/>
              <a:buFont typeface="Arial"/>
              <a:buNone/>
            </a:pPr>
            <a:endParaRPr lang="en-US"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1100"/>
              <a:buFont typeface="Arial"/>
              <a:buNone/>
            </a:pPr>
            <a:r>
              <a:rPr lang="en-US" sz="1600" dirty="0">
                <a:latin typeface="Times New Roman" panose="02020603050405020304" pitchFamily="18" charset="0"/>
                <a:cs typeface="Times New Roman" panose="02020603050405020304" pitchFamily="18" charset="0"/>
              </a:rPr>
              <a:t>2) Environmental Benefits: Reduces impact, promotes sustainability, and saves resources. </a:t>
            </a:r>
          </a:p>
          <a:p>
            <a:pPr marL="0" lvl="0" indent="0" algn="l" rtl="0">
              <a:spcBef>
                <a:spcPts val="0"/>
              </a:spcBef>
              <a:spcAft>
                <a:spcPts val="0"/>
              </a:spcAft>
              <a:buClr>
                <a:schemeClr val="dk1"/>
              </a:buClr>
              <a:buSzPts val="1100"/>
              <a:buFont typeface="Arial"/>
              <a:buNone/>
            </a:pPr>
            <a:endParaRPr lang="en-US"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1100"/>
              <a:buFont typeface="Arial"/>
              <a:buNone/>
            </a:pPr>
            <a:r>
              <a:rPr lang="en-US" sz="1600" dirty="0">
                <a:latin typeface="Times New Roman" panose="02020603050405020304" pitchFamily="18" charset="0"/>
                <a:cs typeface="Times New Roman" panose="02020603050405020304" pitchFamily="18" charset="0"/>
              </a:rPr>
              <a:t>3) Technological: Improves efficiency, performance, innovation and scalability.</a:t>
            </a:r>
          </a:p>
          <a:p>
            <a:pPr marL="0" lvl="0" indent="0" algn="l" rtl="0">
              <a:spcBef>
                <a:spcPts val="0"/>
              </a:spcBef>
              <a:spcAft>
                <a:spcPts val="0"/>
              </a:spcAft>
              <a:buClr>
                <a:schemeClr val="dk1"/>
              </a:buClr>
              <a:buSzPts val="1100"/>
              <a:buFont typeface="Arial"/>
              <a:buNone/>
            </a:pPr>
            <a:endParaRPr lang="en-US" sz="1600" dirty="0">
              <a:latin typeface="Times New Roman" panose="02020603050405020304" pitchFamily="18" charset="0"/>
              <a:ea typeface="Poppins"/>
              <a:cs typeface="Times New Roman" panose="02020603050405020304" pitchFamily="18" charset="0"/>
              <a:sym typeface="Poppins"/>
            </a:endParaRPr>
          </a:p>
          <a:p>
            <a:pPr>
              <a:buNone/>
            </a:pPr>
            <a:r>
              <a:rPr lang="en-US" sz="1600" dirty="0">
                <a:latin typeface="Times New Roman" panose="02020603050405020304" pitchFamily="18" charset="0"/>
                <a:ea typeface="Poppins"/>
                <a:cs typeface="Times New Roman" panose="02020603050405020304" pitchFamily="18" charset="0"/>
                <a:sym typeface="Poppins"/>
              </a:rPr>
              <a:t>4) </a:t>
            </a:r>
            <a:r>
              <a:rPr lang="en-US" sz="1600" dirty="0">
                <a:latin typeface="Times New Roman" panose="02020603050405020304" pitchFamily="18" charset="0"/>
                <a:cs typeface="Times New Roman" panose="02020603050405020304" pitchFamily="18" charset="0"/>
              </a:rPr>
              <a:t>Robust Against Look-Alikes: Successfully distinguished between oil spills and similar features     like algae, ship wakes, and low-wind slicks in most test cases.</a:t>
            </a:r>
          </a:p>
          <a:p>
            <a:pPr marL="0" lvl="0" indent="0" algn="l" rtl="0">
              <a:spcBef>
                <a:spcPts val="0"/>
              </a:spcBef>
              <a:spcAft>
                <a:spcPts val="0"/>
              </a:spcAft>
              <a:buClr>
                <a:schemeClr val="dk1"/>
              </a:buClr>
              <a:buSzPts val="1100"/>
              <a:buFont typeface="Arial"/>
              <a:buNone/>
            </a:pPr>
            <a:endParaRPr dirty="0">
              <a:latin typeface="Times New Roman" panose="02020603050405020304" pitchFamily="18" charset="0"/>
              <a:ea typeface="Poppins"/>
              <a:cs typeface="Times New Roman" panose="02020603050405020304" pitchFamily="18" charset="0"/>
              <a:sym typeface="Poppins"/>
            </a:endParaRPr>
          </a:p>
        </p:txBody>
      </p:sp>
      <p:pic>
        <p:nvPicPr>
          <p:cNvPr id="129" name="Google Shape;129;p13"/>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10</a:t>
            </a:fld>
            <a:endParaRPr/>
          </a:p>
        </p:txBody>
      </p:sp>
      <p:sp>
        <p:nvSpPr>
          <p:cNvPr id="135" name="Google Shape;135;p14"/>
          <p:cNvSpPr txBox="1"/>
          <p:nvPr/>
        </p:nvSpPr>
        <p:spPr>
          <a:xfrm>
            <a:off x="499927" y="353980"/>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C00000"/>
                </a:solidFill>
                <a:latin typeface="Times New Roman"/>
                <a:ea typeface="Times New Roman"/>
                <a:cs typeface="Times New Roman"/>
                <a:sym typeface="Times New Roman"/>
              </a:rPr>
              <a:t>Conclusion and Future Work</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36" name="Google Shape;136;p14"/>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37" name="Google Shape;137;p1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38" name="Google Shape;138;p14"/>
          <p:cNvSpPr txBox="1"/>
          <p:nvPr/>
        </p:nvSpPr>
        <p:spPr>
          <a:xfrm>
            <a:off x="499927" y="1036555"/>
            <a:ext cx="7843200" cy="42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latin typeface="Times New Roman" panose="02020603050405020304" pitchFamily="18" charset="0"/>
                <a:cs typeface="Times New Roman" panose="02020603050405020304" pitchFamily="18" charset="0"/>
              </a:rPr>
              <a:t>To wrap it up, this project showed that using satellite images and machine learning can be a smart and reliable way to detect oil spills in the ocean. The system we built was pretty accurate and could tell the difference between actual oil spills and other things that look similar, like algae or ship trails. It also cuts down on the time and effort needed to spot spills manually. Overall, this kind of technology can really help us keep a closer eye on our oceans and respond more quickly to environmental accidents.</a:t>
            </a:r>
            <a:endParaRPr sz="1800" dirty="0">
              <a:latin typeface="Times New Roman" panose="02020603050405020304" pitchFamily="18" charset="0"/>
              <a:ea typeface="Poppins"/>
              <a:cs typeface="Times New Roman" panose="02020603050405020304" pitchFamily="18" charset="0"/>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5cc8714c89_2_35"/>
          <p:cNvSpPr txBox="1">
            <a:spLocks noGrp="1"/>
          </p:cNvSpPr>
          <p:nvPr>
            <p:ph type="body" idx="1"/>
          </p:nvPr>
        </p:nvSpPr>
        <p:spPr>
          <a:xfrm>
            <a:off x="320054" y="1309793"/>
            <a:ext cx="8582550" cy="4503174"/>
          </a:xfrm>
          <a:prstGeom prst="rect">
            <a:avLst/>
          </a:prstGeom>
          <a:noFill/>
          <a:ln>
            <a:noFill/>
          </a:ln>
        </p:spPr>
        <p:txBody>
          <a:bodyPr spcFirstLastPara="1" wrap="square" lIns="0" tIns="0" rIns="0" bIns="0" anchor="t" anchorCtr="0">
            <a:noAutofit/>
          </a:bodyPr>
          <a:lstStyle/>
          <a:p>
            <a:pPr marL="406400" lvl="0" indent="-406400" algn="just" rtl="0">
              <a:lnSpc>
                <a:spcPct val="150000"/>
              </a:lnSpc>
              <a:spcBef>
                <a:spcPts val="0"/>
              </a:spcBef>
              <a:spcAft>
                <a:spcPts val="0"/>
              </a:spcAft>
              <a:buSzPts val="1400"/>
              <a:buNone/>
            </a:pPr>
            <a:r>
              <a:rPr lang="en-US" sz="1400" dirty="0">
                <a:latin typeface="Times New Roman" panose="02020603050405020304" pitchFamily="18" charset="0"/>
                <a:ea typeface="Times New Roman"/>
                <a:cs typeface="Times New Roman" panose="02020603050405020304" pitchFamily="18" charset="0"/>
                <a:sym typeface="Times New Roman"/>
              </a:rPr>
              <a:t>[</a:t>
            </a:r>
            <a:r>
              <a:rPr lang="en-IN" sz="1400" dirty="0">
                <a:latin typeface="Times New Roman" panose="02020603050405020304" pitchFamily="18" charset="0"/>
                <a:cs typeface="Times New Roman" panose="02020603050405020304" pitchFamily="18" charset="0"/>
              </a:rPr>
              <a:t>1) Ngoc An Bui, </a:t>
            </a:r>
            <a:r>
              <a:rPr lang="en-IN" sz="1400" dirty="0" err="1">
                <a:latin typeface="Times New Roman" panose="02020603050405020304" pitchFamily="18" charset="0"/>
                <a:cs typeface="Times New Roman" panose="02020603050405020304" pitchFamily="18" charset="0"/>
              </a:rPr>
              <a:t>Youngon</a:t>
            </a:r>
            <a:r>
              <a:rPr lang="en-IN" sz="1400" dirty="0">
                <a:latin typeface="Times New Roman" panose="02020603050405020304" pitchFamily="18" charset="0"/>
                <a:cs typeface="Times New Roman" panose="02020603050405020304" pitchFamily="18" charset="0"/>
              </a:rPr>
              <a:t> Oh, and </a:t>
            </a:r>
            <a:r>
              <a:rPr lang="en-IN" sz="1400" dirty="0" err="1">
                <a:latin typeface="Times New Roman" panose="02020603050405020304" pitchFamily="18" charset="0"/>
                <a:cs typeface="Times New Roman" panose="02020603050405020304" pitchFamily="18" charset="0"/>
              </a:rPr>
              <a:t>Impyeong</a:t>
            </a:r>
            <a:r>
              <a:rPr lang="en-IN" sz="1400" dirty="0">
                <a:latin typeface="Times New Roman" panose="02020603050405020304" pitchFamily="18" charset="0"/>
                <a:cs typeface="Times New Roman" panose="02020603050405020304" pitchFamily="18" charset="0"/>
              </a:rPr>
              <a:t> Lee. "Oil spill detection and classification through deep learning and tailored data augmentation." International Journal of Applied Earth Observation and Geoinformation. </a:t>
            </a:r>
          </a:p>
          <a:p>
            <a:pPr marL="406400" lvl="0" indent="-406400" algn="just" rtl="0">
              <a:lnSpc>
                <a:spcPct val="150000"/>
              </a:lnSpc>
              <a:spcBef>
                <a:spcPts val="0"/>
              </a:spcBef>
              <a:spcAft>
                <a:spcPts val="0"/>
              </a:spcAft>
              <a:buSzPts val="1400"/>
              <a:buNone/>
            </a:pPr>
            <a:r>
              <a:rPr lang="en-IN" sz="1400" dirty="0">
                <a:latin typeface="Times New Roman" panose="02020603050405020304" pitchFamily="18" charset="0"/>
                <a:cs typeface="Times New Roman" panose="02020603050405020304" pitchFamily="18" charset="0"/>
              </a:rPr>
              <a:t>2) </a:t>
            </a:r>
            <a:r>
              <a:rPr lang="en-IN" sz="1400" dirty="0" err="1">
                <a:latin typeface="Times New Roman" panose="02020603050405020304" pitchFamily="18" charset="0"/>
                <a:cs typeface="Times New Roman" panose="02020603050405020304" pitchFamily="18" charset="0"/>
              </a:rPr>
              <a:t>Xiaorui</a:t>
            </a:r>
            <a:r>
              <a:rPr lang="en-IN" sz="1400" dirty="0">
                <a:latin typeface="Times New Roman" panose="02020603050405020304" pitchFamily="18" charset="0"/>
                <a:cs typeface="Times New Roman" panose="02020603050405020304" pitchFamily="18" charset="0"/>
              </a:rPr>
              <a:t> Dong, </a:t>
            </a:r>
            <a:r>
              <a:rPr lang="en-IN" sz="1400" dirty="0" err="1">
                <a:latin typeface="Times New Roman" panose="02020603050405020304" pitchFamily="18" charset="0"/>
                <a:cs typeface="Times New Roman" panose="02020603050405020304" pitchFamily="18" charset="0"/>
              </a:rPr>
              <a:t>Jiansheng</a:t>
            </a:r>
            <a:r>
              <a:rPr lang="en-IN" sz="1400" dirty="0">
                <a:latin typeface="Times New Roman" panose="02020603050405020304" pitchFamily="18" charset="0"/>
                <a:cs typeface="Times New Roman" panose="02020603050405020304" pitchFamily="18" charset="0"/>
              </a:rPr>
              <a:t> Li, Bing Li, </a:t>
            </a:r>
            <a:r>
              <a:rPr lang="en-IN" sz="1400" dirty="0" err="1">
                <a:latin typeface="Times New Roman" panose="02020603050405020304" pitchFamily="18" charset="0"/>
                <a:cs typeface="Times New Roman" panose="02020603050405020304" pitchFamily="18" charset="0"/>
              </a:rPr>
              <a:t>Yueqin</a:t>
            </a:r>
            <a:r>
              <a:rPr lang="en-IN" sz="1400" dirty="0">
                <a:latin typeface="Times New Roman" panose="02020603050405020304" pitchFamily="18" charset="0"/>
                <a:cs typeface="Times New Roman" panose="02020603050405020304" pitchFamily="18" charset="0"/>
              </a:rPr>
              <a:t> Jin, and </a:t>
            </a:r>
            <a:r>
              <a:rPr lang="en-IN" sz="1400" dirty="0" err="1">
                <a:latin typeface="Times New Roman" panose="02020603050405020304" pitchFamily="18" charset="0"/>
                <a:cs typeface="Times New Roman" panose="02020603050405020304" pitchFamily="18" charset="0"/>
              </a:rPr>
              <a:t>Shufeng</a:t>
            </a:r>
            <a:r>
              <a:rPr lang="en-IN" sz="1400" dirty="0">
                <a:latin typeface="Times New Roman" panose="02020603050405020304" pitchFamily="18" charset="0"/>
                <a:cs typeface="Times New Roman" panose="02020603050405020304" pitchFamily="18" charset="0"/>
              </a:rPr>
              <a:t> Miao. "Marine oil spill detection from low-quality SAR remote sensing images." Journal of Marine Science and Engineering. </a:t>
            </a:r>
          </a:p>
          <a:p>
            <a:pPr marL="406400" lvl="0" indent="-406400" algn="just" rtl="0">
              <a:lnSpc>
                <a:spcPct val="150000"/>
              </a:lnSpc>
              <a:spcBef>
                <a:spcPts val="0"/>
              </a:spcBef>
              <a:spcAft>
                <a:spcPts val="0"/>
              </a:spcAft>
              <a:buSzPts val="1400"/>
              <a:buNone/>
            </a:pPr>
            <a:r>
              <a:rPr lang="en-IN" sz="1400" dirty="0">
                <a:latin typeface="Times New Roman" panose="02020603050405020304" pitchFamily="18" charset="0"/>
                <a:cs typeface="Times New Roman" panose="02020603050405020304" pitchFamily="18" charset="0"/>
              </a:rPr>
              <a:t>3) Thomas De Kerf, Jona </a:t>
            </a:r>
            <a:r>
              <a:rPr lang="en-IN" sz="1400" dirty="0" err="1">
                <a:latin typeface="Times New Roman" panose="02020603050405020304" pitchFamily="18" charset="0"/>
                <a:cs typeface="Times New Roman" panose="02020603050405020304" pitchFamily="18" charset="0"/>
              </a:rPr>
              <a:t>Gladines</a:t>
            </a:r>
            <a:r>
              <a:rPr lang="en-IN" sz="1400" dirty="0">
                <a:latin typeface="Times New Roman" panose="02020603050405020304" pitchFamily="18" charset="0"/>
                <a:cs typeface="Times New Roman" panose="02020603050405020304" pitchFamily="18" charset="0"/>
              </a:rPr>
              <a:t>, Seppe Sels, and Steve </a:t>
            </a:r>
            <a:r>
              <a:rPr lang="en-IN" sz="1400" dirty="0" err="1">
                <a:latin typeface="Times New Roman" panose="02020603050405020304" pitchFamily="18" charset="0"/>
                <a:cs typeface="Times New Roman" panose="02020603050405020304" pitchFamily="18" charset="0"/>
              </a:rPr>
              <a:t>Vanlanduit</a:t>
            </a:r>
            <a:r>
              <a:rPr lang="en-IN" sz="1400" dirty="0">
                <a:latin typeface="Times New Roman" panose="02020603050405020304" pitchFamily="18" charset="0"/>
                <a:cs typeface="Times New Roman" panose="02020603050405020304" pitchFamily="18" charset="0"/>
              </a:rPr>
              <a:t>. "Oil Spill Detection Using Machine Learning and Infrared Imaging." Remote Sensing.</a:t>
            </a:r>
          </a:p>
          <a:p>
            <a:pPr marL="406400" lvl="0" indent="-406400" rtl="0">
              <a:lnSpc>
                <a:spcPct val="150000"/>
              </a:lnSpc>
              <a:spcBef>
                <a:spcPts val="0"/>
              </a:spcBef>
              <a:spcAft>
                <a:spcPts val="0"/>
              </a:spcAft>
              <a:buSzPts val="1400"/>
              <a:buNone/>
            </a:pPr>
            <a:r>
              <a:rPr lang="en-US" sz="1400" dirty="0">
                <a:latin typeface="Times New Roman" panose="02020603050405020304" pitchFamily="18" charset="0"/>
                <a:cs typeface="Times New Roman" panose="02020603050405020304" pitchFamily="18" charset="0"/>
              </a:rPr>
              <a:t>4) Najafizadegan,S.,&amp;</a:t>
            </a:r>
            <a:r>
              <a:rPr lang="en-US" sz="1400" dirty="0" err="1">
                <a:latin typeface="Times New Roman" panose="02020603050405020304" pitchFamily="18" charset="0"/>
                <a:cs typeface="Times New Roman" panose="02020603050405020304" pitchFamily="18" charset="0"/>
              </a:rPr>
              <a:t>Danesh-Yazdi,M</a:t>
            </a:r>
            <a:r>
              <a:rPr lang="en-US" sz="1400" dirty="0">
                <a:latin typeface="Times New Roman" panose="02020603050405020304" pitchFamily="18" charset="0"/>
                <a:cs typeface="Times New Roman" panose="02020603050405020304" pitchFamily="18" charset="0"/>
              </a:rPr>
              <a:t>.(2023) Variable-complexity machine learning models for large-scale oil spill detection: The case of Persian </a:t>
            </a:r>
            <a:r>
              <a:rPr lang="en-US" sz="1400" dirty="0" err="1">
                <a:latin typeface="Times New Roman" panose="02020603050405020304" pitchFamily="18" charset="0"/>
                <a:cs typeface="Times New Roman" panose="02020603050405020304" pitchFamily="18" charset="0"/>
              </a:rPr>
              <a:t>Gulf.Marine</a:t>
            </a:r>
            <a:r>
              <a:rPr lang="en-US" sz="1400" dirty="0">
                <a:latin typeface="Times New Roman" panose="02020603050405020304" pitchFamily="18" charset="0"/>
                <a:cs typeface="Times New Roman" panose="02020603050405020304" pitchFamily="18" charset="0"/>
              </a:rPr>
              <a:t> Pollution Bulletin, 194, 115259.</a:t>
            </a:r>
          </a:p>
          <a:p>
            <a:pPr marL="406400" lvl="0" indent="-406400" rtl="0">
              <a:lnSpc>
                <a:spcPct val="150000"/>
              </a:lnSpc>
              <a:spcBef>
                <a:spcPts val="0"/>
              </a:spcBef>
              <a:spcAft>
                <a:spcPts val="0"/>
              </a:spcAft>
              <a:buSzPts val="1400"/>
              <a:buNone/>
            </a:pPr>
            <a:r>
              <a:rPr lang="en-US" sz="1400"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5) </a:t>
            </a:r>
            <a:r>
              <a:rPr lang="en-US" sz="1400" dirty="0">
                <a:latin typeface="Times New Roman" panose="02020603050405020304" pitchFamily="18" charset="0"/>
                <a:cs typeface="Times New Roman" panose="02020603050405020304" pitchFamily="18" charset="0"/>
              </a:rPr>
              <a:t>Satellite Datasets (</a:t>
            </a:r>
            <a:r>
              <a:rPr lang="en-US" sz="1400" dirty="0">
                <a:latin typeface="Times New Roman" panose="02020603050405020304" pitchFamily="18" charset="0"/>
                <a:cs typeface="Times New Roman" panose="02020603050405020304" pitchFamily="18" charset="0"/>
                <a:hlinkClick r:id="rId3"/>
              </a:rPr>
              <a:t>https://dataspace.copernicus.eu/</a:t>
            </a:r>
            <a:r>
              <a:rPr lang="en-US" sz="1400" dirty="0">
                <a:latin typeface="Times New Roman" panose="02020603050405020304" pitchFamily="18" charset="0"/>
                <a:cs typeface="Times New Roman" panose="02020603050405020304" pitchFamily="18" charset="0"/>
              </a:rPr>
              <a:t>).</a:t>
            </a:r>
          </a:p>
          <a:p>
            <a:pPr marL="406400" lvl="0" indent="-406400" rtl="0">
              <a:lnSpc>
                <a:spcPct val="150000"/>
              </a:lnSpc>
              <a:spcBef>
                <a:spcPts val="0"/>
              </a:spcBef>
              <a:spcAft>
                <a:spcPts val="0"/>
              </a:spcAft>
              <a:buSzPts val="1400"/>
              <a:buNone/>
            </a:pPr>
            <a:r>
              <a:rPr lang="en-US" sz="1400" dirty="0">
                <a:latin typeface="Times New Roman" panose="02020603050405020304" pitchFamily="18" charset="0"/>
                <a:cs typeface="Times New Roman" panose="02020603050405020304" pitchFamily="18" charset="0"/>
              </a:rPr>
              <a:t>6) SNAP tool for processing SAR datasets (https://step.esa.int/main).     </a:t>
            </a:r>
            <a:endParaRPr sz="1400"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endParaRPr>
          </a:p>
        </p:txBody>
      </p:sp>
      <p:sp>
        <p:nvSpPr>
          <p:cNvPr id="144" name="Google Shape;144;g5cc8714c89_2_35"/>
          <p:cNvSpPr txBox="1"/>
          <p:nvPr/>
        </p:nvSpPr>
        <p:spPr>
          <a:xfrm>
            <a:off x="320054" y="315984"/>
            <a:ext cx="2874298" cy="72904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dirty="0">
                <a:solidFill>
                  <a:srgbClr val="C00000"/>
                </a:solidFill>
                <a:latin typeface="Times New Roman"/>
                <a:ea typeface="Times New Roman"/>
                <a:cs typeface="Times New Roman"/>
                <a:sym typeface="Times New Roman"/>
              </a:rPr>
              <a:t>References</a:t>
            </a:r>
            <a:endParaRPr dirty="0"/>
          </a:p>
        </p:txBody>
      </p:sp>
      <p:sp>
        <p:nvSpPr>
          <p:cNvPr id="145" name="Google Shape;145;g5cc8714c89_2_3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11</a:t>
            </a:fld>
            <a:endParaRPr/>
          </a:p>
        </p:txBody>
      </p:sp>
      <p:sp>
        <p:nvSpPr>
          <p:cNvPr id="146" name="Google Shape;146;g5cc8714c89_2_35"/>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47" name="Google Shape;147;g5cc8714c89_2_35"/>
          <p:cNvPicPr preferRelativeResize="0"/>
          <p:nvPr/>
        </p:nvPicPr>
        <p:blipFill rotWithShape="1">
          <a:blip r:embed="rId4">
            <a:alphaModFix/>
          </a:blip>
          <a:srcRect/>
          <a:stretch/>
        </p:blipFill>
        <p:spPr>
          <a:xfrm>
            <a:off x="0" y="5812967"/>
            <a:ext cx="999854" cy="10204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12</a:t>
            </a:fld>
            <a:endParaRPr/>
          </a:p>
        </p:txBody>
      </p:sp>
      <p:sp>
        <p:nvSpPr>
          <p:cNvPr id="153" name="Google Shape;153;p16"/>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sp>
        <p:nvSpPr>
          <p:cNvPr id="154" name="Google Shape;154;p16"/>
          <p:cNvSpPr/>
          <p:nvPr/>
        </p:nvSpPr>
        <p:spPr>
          <a:xfrm>
            <a:off x="1792145" y="2374230"/>
            <a:ext cx="533055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000" b="1" i="0" u="none" strike="noStrike" cap="none">
                <a:solidFill>
                  <a:srgbClr val="C00000"/>
                </a:solidFill>
                <a:latin typeface="Times New Roman"/>
                <a:ea typeface="Times New Roman"/>
                <a:cs typeface="Times New Roman"/>
                <a:sym typeface="Times New Roman"/>
              </a:rPr>
              <a:t>Thank You</a:t>
            </a:r>
            <a:endParaRPr/>
          </a:p>
        </p:txBody>
      </p:sp>
      <p:pic>
        <p:nvPicPr>
          <p:cNvPr id="155" name="Google Shape;155;p16"/>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1387</Words>
  <Application>Microsoft Office PowerPoint</Application>
  <PresentationFormat>On-screen Show (4:3)</PresentationFormat>
  <Paragraphs>117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Century Schoolbook</vt:lpstr>
      <vt:lpstr>Times New Roman</vt:lpstr>
      <vt:lpstr>New times roman</vt:lpstr>
      <vt:lpstr>Arial</vt:lpstr>
      <vt:lpstr>Office Theme</vt:lpstr>
      <vt:lpstr>“OIL SPILL DETECTION”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dheeraj nair</cp:lastModifiedBy>
  <cp:revision>1</cp:revision>
  <dcterms:created xsi:type="dcterms:W3CDTF">2018-12-06T11:05:22Z</dcterms:created>
  <dcterms:modified xsi:type="dcterms:W3CDTF">2025-10-10T07:56:04Z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2017-02-01T00:00:00Z</vt:filetime>
  </property>
  <property fmtid="{D5CDD505-2E9C-101B-9397-08002B2CF9AE}" pid="3" name="Creator">
    <vt:lpwstr>Microsoft® Office PowerPoint® 2007</vt:lpwstr>
  </property>
  <property fmtid="{D5CDD505-2E9C-101B-9397-08002B2CF9AE}" pid="4" name="LastSaved">
    <vt:filetime>2018-12-06T00:00:00Z</vt:filetime>
  </property>
</Properties>
</file>